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450D-D7D9-4198-A550-B1DCEE272A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B0B18-E558-42C2-AF16-868118C03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5AC66-B5FB-45DA-832C-FDDF02581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27/09/2025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C0420-8147-4A86-86EA-CDC29CD56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C6374-75F4-4963-A267-257F140A9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6077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7F6A-7F1C-4781-B23D-3A3502100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B9C45-A98A-4350-8064-B2FF2EE1E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6B8-8B9E-403F-A0F4-41A85B932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27/09/2025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E181A-6F20-4422-827C-13850FD3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E7ADE-5719-41AB-B2F7-F41ECA70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9758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22E3-BFD2-4705-8246-A9747D0AF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5B220-62FE-4070-87BB-5409C885B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49C81-BC86-4C8B-8F9D-A54B3F589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27/09/2025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7944B-C4E7-439C-9822-4C99E8B3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4F032-A581-4F65-B810-A9FFC8564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8071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38AC1-C2F6-4725-844C-3D52A50DC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199CE-9932-422C-9390-7ED25645E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DB1A4-559D-473D-8D03-BE9FBC0D8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D57A9-2306-4059-ADF7-2545F50A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27/09/2025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AD0EC-D120-4E97-B53E-E6DBE125C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8667D-DF1E-4D95-B0FD-69798B71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24034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3A155-E48B-42A7-8B38-693D62C24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D294B-3EC0-495B-9C08-B2A824ED1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FF4DB-A66D-4F6D-89AA-487FCFA1D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A0AE3C-8791-45AD-82B6-FFDB1D3C9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3341A2-5435-4CEE-9133-F62B4EE92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FC6359-D35B-4F8A-A952-DBA81EF1F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27/09/2025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3F5C1-3E69-4026-BC30-8BCC817B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5F9BFB-381C-4F1F-BB51-8900F1A7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4364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A3CD-90EB-49BF-A555-B5083AA77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E97BB-9551-43D8-8522-8433B5574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27/09/2025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CA9AC-0536-44EA-A68A-491A49B5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E5173-55B2-4618-9B94-2780F626C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8929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C9065C-8915-4F2C-9BB1-DCA246229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27/09/2025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C88218-F778-4A09-AFFB-42CBFE38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298E4-2C73-4034-BA1F-696867E0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56430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27D0-9930-4BDA-9198-9D3C0B097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0A7C-DBB7-430A-BB1A-6CB7A9A15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94BE5-12FE-4566-A442-AAA564380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84D0F-F825-47C2-89B8-FCAA60F6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27/09/2025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904BB-8B50-40EF-BE65-C29721285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1EF01-E1BA-4321-A539-52E6F243E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9132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085C-E343-4BB8-AF24-35CA62025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A5554-AB01-490F-BDB1-A2435EEF13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2FC3C-7900-4E0F-BD08-4CE549D00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48664-1412-474B-93F0-3E8E3D3A6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27/09/2025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8686A-5E2A-40DF-90A0-A892BC491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4929-C5B5-4BB0-9C03-637FECAAD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17424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DE6F9-6E84-444C-93F8-2CE9558D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898D2-7DB7-4188-92AB-7B8F46F40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1674A-7A0C-474B-A81F-3128DE5F4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27/09/2025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3A075-BC88-4832-B59B-0E7EC875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65E7E-51D2-41FF-954C-CF301B0B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3464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6A635C-8848-45E3-AE0D-FA45A35E5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1F28C5-2CD6-4633-82AE-F29BBF2D5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B9C02-E0A8-45FC-BD75-D0F1781FF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2436-51E9-435A-B360-4669E355F4EE}" type="datetimeFigureOut">
              <a:rPr lang="en-NG" smtClean="0"/>
              <a:t>27/09/2025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E99E5-3DA9-43A8-A7C8-E6B364BAA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C2C56-993E-453D-97EB-A574BE27E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40736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DD6688-E418-4807-BC2A-FE99629EC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8E225-4FE7-490E-A36A-A6EB8EE86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4DDEB-70B7-42FD-A3F0-4141986CA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E92436-51E9-435A-B360-4669E355F4EE}" type="datetimeFigureOut">
              <a:rPr lang="en-NG" smtClean="0"/>
              <a:t>27/09/2025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DA873-AECF-4626-A81A-F66F7B54E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D14A9-563E-4A48-BC80-5DDCBB2AD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9DD9F-913A-4D3F-BEB4-29AC07EFEEED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0860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C202-0F4D-44CF-B7EF-E418A40707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CLASS 10: JavaScript Basics</a:t>
            </a:r>
            <a:endParaRPr lang="en-NG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448C0-C3A9-4631-AB8E-63CF100B16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2C075-8F43-48B3-BC17-891B3665050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36" y="1853588"/>
            <a:ext cx="10541991" cy="2804748"/>
          </a:xfrm>
          <a:prstGeom prst="rect">
            <a:avLst/>
          </a:prstGeom>
          <a:effectLst>
            <a:outerShdw dist="50800" sx="1000" sy="1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563946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385947"/>
            <a:ext cx="12052663" cy="555478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What is JavaScript? </a:t>
            </a:r>
          </a:p>
          <a:p>
            <a:pPr marL="0" indent="0">
              <a:buNone/>
            </a:pPr>
            <a:r>
              <a:rPr lang="en-US" b="1" dirty="0"/>
              <a:t>- </a:t>
            </a:r>
            <a:r>
              <a:rPr lang="en-US" dirty="0"/>
              <a:t>JavaScript is a </a:t>
            </a:r>
            <a:r>
              <a:rPr lang="en-US" b="1" dirty="0"/>
              <a:t>programming language</a:t>
            </a:r>
            <a:r>
              <a:rPr lang="en-US" dirty="0"/>
              <a:t> that adds interactivity, dynamic behavior, and logic to web pages.</a:t>
            </a:r>
          </a:p>
          <a:p>
            <a:pPr marL="0" indent="0">
              <a:buNone/>
            </a:pPr>
            <a:r>
              <a:rPr lang="en-US" b="1" dirty="0"/>
              <a:t>- </a:t>
            </a:r>
            <a:r>
              <a:rPr lang="en-US" dirty="0"/>
              <a:t>While HTML defines the </a:t>
            </a:r>
            <a:r>
              <a:rPr lang="en-US" b="1" dirty="0"/>
              <a:t>structure</a:t>
            </a:r>
            <a:r>
              <a:rPr lang="en-US" dirty="0"/>
              <a:t> and CSS defines the </a:t>
            </a:r>
            <a:r>
              <a:rPr lang="en-US" b="1" dirty="0"/>
              <a:t>presentation</a:t>
            </a:r>
            <a:r>
              <a:rPr lang="en-US" dirty="0"/>
              <a:t>, JavaScript defines the </a:t>
            </a:r>
            <a:r>
              <a:rPr lang="en-US" b="1" dirty="0"/>
              <a:t>behavior</a:t>
            </a:r>
            <a:r>
              <a:rPr lang="en-US" dirty="0"/>
              <a:t>.</a:t>
            </a:r>
          </a:p>
          <a:p>
            <a:r>
              <a:rPr lang="en-US" b="1" dirty="0"/>
              <a:t>Analogy: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b="1" dirty="0"/>
              <a:t>HTML</a:t>
            </a:r>
            <a:r>
              <a:rPr lang="en-US" dirty="0"/>
              <a:t> = The skeleton and organs of a body (structure)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en-US" b="1" dirty="0"/>
              <a:t>CSS</a:t>
            </a:r>
            <a:r>
              <a:rPr lang="en-US" dirty="0"/>
              <a:t> = The skin, clothes, and appearance (presentation)</a:t>
            </a:r>
          </a:p>
          <a:p>
            <a:pPr marL="0" indent="0">
              <a:buNone/>
            </a:pPr>
            <a:r>
              <a:rPr lang="en-US" b="1" dirty="0"/>
              <a:t>- JavaScript</a:t>
            </a:r>
            <a:r>
              <a:rPr lang="en-US" dirty="0"/>
              <a:t> = The brain and muscles that make everything work (behavior)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b="1" dirty="0"/>
          </a:p>
          <a:p>
            <a:endParaRPr lang="en-NG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Introduction: Bringing Websites to Life </a:t>
            </a:r>
          </a:p>
        </p:txBody>
      </p:sp>
    </p:spTree>
    <p:extLst>
      <p:ext uri="{BB962C8B-B14F-4D97-AF65-F5344CB8AC3E}">
        <p14:creationId xmlns:p14="http://schemas.microsoft.com/office/powerpoint/2010/main" val="1661904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/>
          <a:lstStyle/>
          <a:p>
            <a:r>
              <a:rPr lang="en-US" b="1" dirty="0"/>
              <a:t>What Can JavaScript Do?</a:t>
            </a:r>
            <a:endParaRPr lang="en-US" dirty="0"/>
          </a:p>
          <a:p>
            <a:pPr>
              <a:buFontTx/>
              <a:buChar char="-"/>
            </a:pPr>
            <a:r>
              <a:rPr lang="en-US" dirty="0"/>
              <a:t>Manipulate HTML content</a:t>
            </a:r>
          </a:p>
          <a:p>
            <a:pPr>
              <a:buFontTx/>
              <a:buChar char="-"/>
            </a:pPr>
            <a:r>
              <a:rPr lang="en-US" dirty="0"/>
              <a:t>Respond to user actions (clicks, form submissions, etc.)</a:t>
            </a:r>
          </a:p>
          <a:p>
            <a:pPr>
              <a:buFontTx/>
              <a:buChar char="-"/>
            </a:pPr>
            <a:r>
              <a:rPr lang="en-US" dirty="0"/>
              <a:t>Create animations and dynamic effects</a:t>
            </a:r>
          </a:p>
          <a:p>
            <a:pPr>
              <a:buFontTx/>
              <a:buChar char="-"/>
            </a:pPr>
            <a:r>
              <a:rPr lang="en-US" dirty="0"/>
              <a:t>Validate form data</a:t>
            </a:r>
          </a:p>
          <a:p>
            <a:pPr>
              <a:buFontTx/>
              <a:buChar char="-"/>
            </a:pPr>
            <a:r>
              <a:rPr lang="en-US" dirty="0"/>
              <a:t>Fetch data from servers (APIs)</a:t>
            </a:r>
            <a:br>
              <a:rPr lang="en-US" dirty="0"/>
            </a:b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bg1"/>
                </a:solidFill>
              </a:rPr>
              <a:t>Intoduction</a:t>
            </a:r>
            <a:r>
              <a:rPr lang="en-US" sz="2800" b="1" dirty="0">
                <a:solidFill>
                  <a:schemeClr val="bg1"/>
                </a:solidFill>
              </a:rPr>
              <a:t> cont’d</a:t>
            </a:r>
          </a:p>
        </p:txBody>
      </p:sp>
    </p:spTree>
    <p:extLst>
      <p:ext uri="{BB962C8B-B14F-4D97-AF65-F5344CB8AC3E}">
        <p14:creationId xmlns:p14="http://schemas.microsoft.com/office/powerpoint/2010/main" val="422106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425665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1: Including JavaScript in HTML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F2E673-3F03-41AA-B036-9A810A2EA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04677"/>
            <a:ext cx="12192001" cy="5755976"/>
          </a:xfrm>
        </p:spPr>
        <p:txBody>
          <a:bodyPr/>
          <a:lstStyle/>
          <a:p>
            <a:r>
              <a:rPr lang="en-US" b="1" dirty="0"/>
              <a:t>Three Ways to Add JavaScript</a:t>
            </a:r>
          </a:p>
          <a:p>
            <a:pPr marL="514350" indent="-514350">
              <a:buAutoNum type="arabicPeriod"/>
            </a:pPr>
            <a:r>
              <a:rPr lang="en-US" dirty="0"/>
              <a:t>Internal JavaScript: Using &lt;script&gt; tags in HTML</a:t>
            </a:r>
          </a:p>
          <a:p>
            <a:pPr marL="514350" indent="-514350">
              <a:buAutoNum type="arabicPeriod"/>
            </a:pPr>
            <a:r>
              <a:rPr lang="en-US" dirty="0"/>
              <a:t>External JavaScript: Linking to a separate .</a:t>
            </a:r>
            <a:r>
              <a:rPr lang="en-US" dirty="0" err="1"/>
              <a:t>js</a:t>
            </a:r>
            <a:r>
              <a:rPr lang="en-US" dirty="0"/>
              <a:t> file (Recommended)</a:t>
            </a:r>
          </a:p>
          <a:p>
            <a:pPr marL="514350" indent="-514350">
              <a:buAutoNum type="arabicPeriod"/>
            </a:pPr>
            <a:r>
              <a:rPr lang="en-US" dirty="0"/>
              <a:t>Inline JavaScript: Directly in HTML attributes (Avoid for complex code)</a:t>
            </a:r>
          </a:p>
          <a:p>
            <a:pPr marL="0" indent="0">
              <a:buNone/>
            </a:pPr>
            <a:endParaRPr lang="en-N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4E1ECA-E113-4EE5-B8D2-9DC16A7F87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3" y="3117667"/>
            <a:ext cx="7134930" cy="374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45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143303"/>
            <a:ext cx="12192000" cy="5617350"/>
          </a:xfrm>
        </p:spPr>
        <p:txBody>
          <a:bodyPr/>
          <a:lstStyle/>
          <a:p>
            <a:r>
              <a:rPr lang="en-US" b="1" dirty="0"/>
              <a:t>Declaring Variables</a:t>
            </a:r>
          </a:p>
          <a:p>
            <a:pPr marL="0" indent="0">
              <a:buNone/>
            </a:pPr>
            <a:r>
              <a:rPr lang="en-US" dirty="0"/>
              <a:t>-Variables are containers for storing data values. JavaScript has three ways to declare variables: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613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2: Variables – Storing Data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A72C33-1112-4016-9648-32E800260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653333"/>
              </p:ext>
            </p:extLst>
          </p:nvPr>
        </p:nvGraphicFramePr>
        <p:xfrm>
          <a:off x="50031" y="2687319"/>
          <a:ext cx="11906840" cy="40733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81368">
                  <a:extLst>
                    <a:ext uri="{9D8B030D-6E8A-4147-A177-3AD203B41FA5}">
                      <a16:colId xmlns:a16="http://schemas.microsoft.com/office/drawing/2014/main" val="984357584"/>
                    </a:ext>
                  </a:extLst>
                </a:gridCol>
                <a:gridCol w="2381368">
                  <a:extLst>
                    <a:ext uri="{9D8B030D-6E8A-4147-A177-3AD203B41FA5}">
                      <a16:colId xmlns:a16="http://schemas.microsoft.com/office/drawing/2014/main" val="2531348769"/>
                    </a:ext>
                  </a:extLst>
                </a:gridCol>
                <a:gridCol w="2381368">
                  <a:extLst>
                    <a:ext uri="{9D8B030D-6E8A-4147-A177-3AD203B41FA5}">
                      <a16:colId xmlns:a16="http://schemas.microsoft.com/office/drawing/2014/main" val="396080447"/>
                    </a:ext>
                  </a:extLst>
                </a:gridCol>
                <a:gridCol w="2381368">
                  <a:extLst>
                    <a:ext uri="{9D8B030D-6E8A-4147-A177-3AD203B41FA5}">
                      <a16:colId xmlns:a16="http://schemas.microsoft.com/office/drawing/2014/main" val="4027796927"/>
                    </a:ext>
                  </a:extLst>
                </a:gridCol>
                <a:gridCol w="2381368">
                  <a:extLst>
                    <a:ext uri="{9D8B030D-6E8A-4147-A177-3AD203B41FA5}">
                      <a16:colId xmlns:a16="http://schemas.microsoft.com/office/drawing/2014/main" val="3125934888"/>
                    </a:ext>
                  </a:extLst>
                </a:gridCol>
              </a:tblGrid>
              <a:tr h="1018333">
                <a:tc>
                  <a:txBody>
                    <a:bodyPr/>
                    <a:lstStyle/>
                    <a:p>
                      <a:r>
                        <a:rPr lang="en-US" b="1" dirty="0"/>
                        <a:t>Keyword</a:t>
                      </a:r>
                      <a:endParaRPr lang="en-NG" b="1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Scope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Be Reassigned ?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be Redeclared?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Case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271335"/>
                  </a:ext>
                </a:extLst>
              </a:tr>
              <a:tr h="1018333">
                <a:tc>
                  <a:txBody>
                    <a:bodyPr/>
                    <a:lstStyle/>
                    <a:p>
                      <a:r>
                        <a:rPr lang="en-US" dirty="0"/>
                        <a:t>var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 scope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Avoid - outdated</a:t>
                      </a:r>
                      <a:endParaRPr lang="en-NG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077371"/>
                  </a:ext>
                </a:extLst>
              </a:tr>
              <a:tr h="1018333">
                <a:tc>
                  <a:txBody>
                    <a:bodyPr/>
                    <a:lstStyle/>
                    <a:p>
                      <a:r>
                        <a:rPr lang="en-US" dirty="0"/>
                        <a:t>let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scope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for values that change</a:t>
                      </a:r>
                      <a:endParaRPr lang="en-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54074"/>
                  </a:ext>
                </a:extLst>
              </a:tr>
              <a:tr h="1018333">
                <a:tc>
                  <a:txBody>
                    <a:bodyPr/>
                    <a:lstStyle/>
                    <a:p>
                      <a:r>
                        <a:rPr lang="en-US" dirty="0"/>
                        <a:t>const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Block scope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  <a:latin typeface="quote-cjk-patch"/>
                        </a:rPr>
                        <a:t>Use for values that don't change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190898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4789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4E27F5-B81A-42AE-A5E3-A51F7DCE73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97" y="1263968"/>
            <a:ext cx="8422222" cy="5375275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4201649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Variable Naming Rules</a:t>
            </a:r>
          </a:p>
          <a:p>
            <a:pPr marL="0" indent="0">
              <a:buNone/>
            </a:pPr>
            <a:r>
              <a:rPr lang="en-US" b="1" dirty="0"/>
              <a:t>- </a:t>
            </a:r>
            <a:r>
              <a:rPr lang="en-US" dirty="0"/>
              <a:t>Can contain letters, digits, underscores, and dollar signs</a:t>
            </a:r>
          </a:p>
          <a:p>
            <a:pPr>
              <a:buFontTx/>
              <a:buChar char="-"/>
            </a:pPr>
            <a:r>
              <a:rPr lang="en-US" dirty="0"/>
              <a:t>Must begin with a letter, $, or _</a:t>
            </a:r>
          </a:p>
          <a:p>
            <a:pPr>
              <a:buFontTx/>
              <a:buChar char="-"/>
            </a:pPr>
            <a:r>
              <a:rPr lang="en-US" dirty="0"/>
              <a:t>Are case sensitive (</a:t>
            </a:r>
            <a:r>
              <a:rPr lang="en-US" dirty="0" err="1"/>
              <a:t>myVar</a:t>
            </a:r>
            <a:r>
              <a:rPr lang="en-US" dirty="0"/>
              <a:t> </a:t>
            </a:r>
            <a:r>
              <a:rPr lang="en-NG" dirty="0"/>
              <a:t>≠</a:t>
            </a:r>
            <a:r>
              <a:rPr lang="en-US" dirty="0"/>
              <a:t> </a:t>
            </a:r>
            <a:r>
              <a:rPr lang="en-US" dirty="0" err="1"/>
              <a:t>myvar</a:t>
            </a:r>
            <a:r>
              <a:rPr lang="en-US" dirty="0"/>
              <a:t>)</a:t>
            </a:r>
          </a:p>
          <a:p>
            <a:pPr>
              <a:buFontTx/>
              <a:buChar char="-"/>
            </a:pPr>
            <a:r>
              <a:rPr lang="en-US" dirty="0"/>
              <a:t>Cannot user reserved words(let, const, if, function, etc.)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Variables cont’d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D288CF-A36B-4002-AD58-4393983AAE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12" y="4101737"/>
            <a:ext cx="9962088" cy="290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57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r>
              <a:rPr lang="en-US" b="1" dirty="0"/>
              <a:t>Primitive Data Types</a:t>
            </a:r>
          </a:p>
          <a:p>
            <a:pPr>
              <a:buFontTx/>
              <a:buChar char="-"/>
            </a:pPr>
            <a:r>
              <a:rPr lang="en-US" dirty="0"/>
              <a:t>JavaScript has 7 primitive (basic) data types: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Part 3: Data Types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C0343E5-5E7A-4F65-A33F-876B2D48C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037701"/>
              </p:ext>
            </p:extLst>
          </p:nvPr>
        </p:nvGraphicFramePr>
        <p:xfrm>
          <a:off x="113212" y="2311264"/>
          <a:ext cx="10371909" cy="426806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57303">
                  <a:extLst>
                    <a:ext uri="{9D8B030D-6E8A-4147-A177-3AD203B41FA5}">
                      <a16:colId xmlns:a16="http://schemas.microsoft.com/office/drawing/2014/main" val="745645146"/>
                    </a:ext>
                  </a:extLst>
                </a:gridCol>
                <a:gridCol w="3457303">
                  <a:extLst>
                    <a:ext uri="{9D8B030D-6E8A-4147-A177-3AD203B41FA5}">
                      <a16:colId xmlns:a16="http://schemas.microsoft.com/office/drawing/2014/main" val="361470646"/>
                    </a:ext>
                  </a:extLst>
                </a:gridCol>
                <a:gridCol w="3457303">
                  <a:extLst>
                    <a:ext uri="{9D8B030D-6E8A-4147-A177-3AD203B41FA5}">
                      <a16:colId xmlns:a16="http://schemas.microsoft.com/office/drawing/2014/main" val="4077342375"/>
                    </a:ext>
                  </a:extLst>
                </a:gridCol>
              </a:tblGrid>
              <a:tr h="533508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  <a:endParaRPr lang="en-NG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030103"/>
                  </a:ext>
                </a:extLst>
              </a:tr>
              <a:tr h="533508">
                <a:tc>
                  <a:txBody>
                    <a:bodyPr/>
                    <a:lstStyle/>
                    <a:p>
                      <a:r>
                        <a:rPr lang="en-US" b="1" dirty="0"/>
                        <a:t>Number</a:t>
                      </a:r>
                      <a:endParaRPr lang="en-N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Integer or floating-point numbers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42, 3.14, -5</a:t>
                      </a:r>
                      <a:endParaRPr lang="en-NG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785937404"/>
                  </a:ext>
                </a:extLst>
              </a:tr>
              <a:tr h="533508">
                <a:tc>
                  <a:txBody>
                    <a:bodyPr/>
                    <a:lstStyle/>
                    <a:p>
                      <a:r>
                        <a:rPr lang="en-US" b="1" dirty="0"/>
                        <a:t>String</a:t>
                      </a:r>
                      <a:endParaRPr lang="en-N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Text data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“Hello”, ‘World’, `Template`</a:t>
                      </a:r>
                      <a:endParaRPr lang="en-NG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023581024"/>
                  </a:ext>
                </a:extLst>
              </a:tr>
              <a:tr h="533508">
                <a:tc>
                  <a:txBody>
                    <a:bodyPr/>
                    <a:lstStyle/>
                    <a:p>
                      <a:r>
                        <a:rPr lang="en-US" b="1" dirty="0"/>
                        <a:t>Boolean</a:t>
                      </a:r>
                      <a:endParaRPr lang="en-N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Logical true/false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true, false</a:t>
                      </a:r>
                      <a:endParaRPr lang="en-NG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470203274"/>
                  </a:ext>
                </a:extLst>
              </a:tr>
              <a:tr h="533508">
                <a:tc>
                  <a:txBody>
                    <a:bodyPr/>
                    <a:lstStyle/>
                    <a:p>
                      <a:r>
                        <a:rPr lang="en-US" b="1" dirty="0"/>
                        <a:t>Undefined</a:t>
                      </a:r>
                      <a:endParaRPr lang="en-N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Variable declared but not assigned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let x; (x is undefined)</a:t>
                      </a:r>
                      <a:endParaRPr lang="en-NG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45029451"/>
                  </a:ext>
                </a:extLst>
              </a:tr>
              <a:tr h="533508">
                <a:tc>
                  <a:txBody>
                    <a:bodyPr/>
                    <a:lstStyle/>
                    <a:p>
                      <a:r>
                        <a:rPr lang="en-US" b="1" dirty="0"/>
                        <a:t>Null</a:t>
                      </a:r>
                      <a:endParaRPr lang="en-N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Intentional empty value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let y = null</a:t>
                      </a:r>
                      <a:endParaRPr lang="en-NG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64520916"/>
                  </a:ext>
                </a:extLst>
              </a:tr>
              <a:tr h="533508">
                <a:tc>
                  <a:txBody>
                    <a:bodyPr/>
                    <a:lstStyle/>
                    <a:p>
                      <a:r>
                        <a:rPr lang="en-US" b="1" dirty="0"/>
                        <a:t>Symbol</a:t>
                      </a:r>
                      <a:endParaRPr lang="en-N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Unique identifier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Symbol(‘id’)</a:t>
                      </a:r>
                      <a:endParaRPr lang="en-NG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058164009"/>
                  </a:ext>
                </a:extLst>
              </a:tr>
              <a:tr h="533508">
                <a:tc>
                  <a:txBody>
                    <a:bodyPr/>
                    <a:lstStyle/>
                    <a:p>
                      <a:r>
                        <a:rPr lang="en-US" b="1" dirty="0" err="1"/>
                        <a:t>BigInt</a:t>
                      </a:r>
                      <a:endParaRPr lang="en-N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Very large integers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12345678901234567890n</a:t>
                      </a:r>
                      <a:endParaRPr lang="en-NG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42672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152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Examples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BC8E52-7859-4EC2-9405-E1E8AC28A0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9425"/>
            <a:ext cx="1162050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756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87A45-87C1-4158-A716-F0325DA12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85947"/>
            <a:ext cx="12192000" cy="537470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Working with Strings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2155DC-05E1-4CC3-9DF1-8C1BF6F310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36" y="1185882"/>
            <a:ext cx="8220541" cy="556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02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7728018-56D7-41DA-82CD-556E9CC383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3" y="1316219"/>
            <a:ext cx="7136590" cy="5375275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Operators</a:t>
            </a:r>
          </a:p>
        </p:txBody>
      </p:sp>
    </p:spTree>
    <p:extLst>
      <p:ext uri="{BB962C8B-B14F-4D97-AF65-F5344CB8AC3E}">
        <p14:creationId xmlns:p14="http://schemas.microsoft.com/office/powerpoint/2010/main" val="2694362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Comparison Operators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92C62A7-2173-43C2-84AF-E93B07AFA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245" y="1825625"/>
            <a:ext cx="10267510" cy="4351338"/>
          </a:xfrm>
        </p:spPr>
      </p:pic>
    </p:spTree>
    <p:extLst>
      <p:ext uri="{BB962C8B-B14F-4D97-AF65-F5344CB8AC3E}">
        <p14:creationId xmlns:p14="http://schemas.microsoft.com/office/powerpoint/2010/main" val="11242279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A590D6-9F06-46B2-8636-67160AD99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869"/>
            <a:ext cx="2969623" cy="200932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endParaRPr lang="en-N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72A472-7DA7-412F-92C9-1A2123660200}"/>
              </a:ext>
            </a:extLst>
          </p:cNvPr>
          <p:cNvSpPr/>
          <p:nvPr/>
        </p:nvSpPr>
        <p:spPr>
          <a:xfrm>
            <a:off x="3301828" y="103869"/>
            <a:ext cx="3478306" cy="1972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C27F8-4DDF-45F7-BF85-8A607150B2F8}"/>
              </a:ext>
            </a:extLst>
          </p:cNvPr>
          <p:cNvSpPr/>
          <p:nvPr/>
        </p:nvSpPr>
        <p:spPr>
          <a:xfrm>
            <a:off x="7112339" y="97347"/>
            <a:ext cx="2962961" cy="197231"/>
          </a:xfrm>
          <a:prstGeom prst="rect">
            <a:avLst/>
          </a:prstGeom>
          <a:solidFill>
            <a:srgbClr val="FE4A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32AE36-C4BA-427C-9BAD-12E472143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5055" y="-1"/>
            <a:ext cx="1886945" cy="5020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3BEDE71-F9D4-4A0D-AB60-8C01ED0CB6D6}"/>
              </a:ext>
            </a:extLst>
          </p:cNvPr>
          <p:cNvSpPr/>
          <p:nvPr/>
        </p:nvSpPr>
        <p:spPr>
          <a:xfrm>
            <a:off x="0" y="554281"/>
            <a:ext cx="6305006" cy="5821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Logical Operators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A41BFA-2205-48C2-A482-95DDAF8BBF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970" y="1825625"/>
            <a:ext cx="10326059" cy="4351338"/>
          </a:xfrm>
        </p:spPr>
      </p:pic>
    </p:spTree>
    <p:extLst>
      <p:ext uri="{BB962C8B-B14F-4D97-AF65-F5344CB8AC3E}">
        <p14:creationId xmlns:p14="http://schemas.microsoft.com/office/powerpoint/2010/main" val="2504948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404</Words>
  <Application>Microsoft Office PowerPoint</Application>
  <PresentationFormat>Widescreen</PresentationFormat>
  <Paragraphs>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quote-cjk-patch</vt:lpstr>
      <vt:lpstr>Office Theme</vt:lpstr>
      <vt:lpstr>CLASS 10: JavaScript Basics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4 : ADVANCED HTML AND CSS</dc:title>
  <dc:creator>Lukman Jubril</dc:creator>
  <cp:lastModifiedBy>Lukman Jubril</cp:lastModifiedBy>
  <cp:revision>22</cp:revision>
  <dcterms:created xsi:type="dcterms:W3CDTF">2025-08-19T13:42:15Z</dcterms:created>
  <dcterms:modified xsi:type="dcterms:W3CDTF">2025-09-27T12:47:26Z</dcterms:modified>
</cp:coreProperties>
</file>