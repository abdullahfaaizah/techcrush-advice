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Raleway ExtraBold"/>
      <p:bold r:id="rId18"/>
      <p:boldItalic r:id="rId19"/>
    </p:embeddedFont>
    <p:embeddedFont>
      <p:font typeface="Lato"/>
      <p:regular r:id="rId20"/>
      <p:bold r:id="rId21"/>
      <p:italic r:id="rId22"/>
      <p:boldItalic r:id="rId23"/>
    </p:embeddedFont>
    <p:embeddedFont>
      <p:font typeface="Raleway Black"/>
      <p:bold r:id="rId24"/>
      <p:boldItalic r:id="rId25"/>
    </p:embeddedFont>
    <p:embeddedFont>
      <p:font typeface="Nunito Sans SemiBold"/>
      <p:regular r:id="rId26"/>
      <p:bold r:id="rId27"/>
      <p:italic r:id="rId28"/>
      <p:boldItalic r:id="rId29"/>
    </p:embeddedFont>
    <p:embeddedFont>
      <p:font typeface="Montserrat ExtraBold"/>
      <p:bold r:id="rId30"/>
      <p:boldItalic r:id="rId31"/>
    </p:embeddedFont>
    <p:embeddedFont>
      <p:font typeface="Nunito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j/TmFJBvbtI6QnO/3Jyon2j1bz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5CF40E-077D-492B-9EE9-0AF4B1E35C13}">
  <a:tblStyle styleId="{F25CF40E-077D-492B-9EE9-0AF4B1E35C1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RalewayBlack-bold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SansSemiBold-regular.fntdata"/><Relationship Id="rId25" Type="http://schemas.openxmlformats.org/officeDocument/2006/relationships/font" Target="fonts/RalewayBlack-boldItalic.fntdata"/><Relationship Id="rId28" Type="http://schemas.openxmlformats.org/officeDocument/2006/relationships/font" Target="fonts/NunitoSansSemiBold-italic.fntdata"/><Relationship Id="rId27" Type="http://schemas.openxmlformats.org/officeDocument/2006/relationships/font" Target="fonts/NunitoSans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Sans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ExtraBold-boldItalic.fntdata"/><Relationship Id="rId30" Type="http://schemas.openxmlformats.org/officeDocument/2006/relationships/font" Target="fonts/MontserratExtraBold-bold.fntdata"/><Relationship Id="rId11" Type="http://schemas.openxmlformats.org/officeDocument/2006/relationships/slide" Target="slides/slide6.xml"/><Relationship Id="rId33" Type="http://schemas.openxmlformats.org/officeDocument/2006/relationships/font" Target="fonts/NunitoSans-bold.fntdata"/><Relationship Id="rId10" Type="http://schemas.openxmlformats.org/officeDocument/2006/relationships/slide" Target="slides/slide5.xml"/><Relationship Id="rId32" Type="http://schemas.openxmlformats.org/officeDocument/2006/relationships/font" Target="fonts/NunitoSans-regular.fntdata"/><Relationship Id="rId13" Type="http://schemas.openxmlformats.org/officeDocument/2006/relationships/slide" Target="slides/slide8.xml"/><Relationship Id="rId35" Type="http://schemas.openxmlformats.org/officeDocument/2006/relationships/font" Target="fonts/NunitoSans-boldItalic.fntdata"/><Relationship Id="rId12" Type="http://schemas.openxmlformats.org/officeDocument/2006/relationships/slide" Target="slides/slide7.xml"/><Relationship Id="rId34" Type="http://schemas.openxmlformats.org/officeDocument/2006/relationships/font" Target="fonts/NunitoSans-italic.fntdata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36" Type="http://customschemas.google.com/relationships/presentationmetadata" Target="meta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19" Type="http://schemas.openxmlformats.org/officeDocument/2006/relationships/font" Target="fonts/RalewayExtraBold-boldItalic.fntdata"/><Relationship Id="rId18" Type="http://schemas.openxmlformats.org/officeDocument/2006/relationships/font" Target="fonts/RalewayExtra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b940904d3_0_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9b940904d3_0_7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b940904d3_0_7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9b940904d3_0_7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b940904d3_0_7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9b940904d3_0_7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b940904d3_0_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9b940904d3_0_7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b940904d3_0_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9b940904d3_0_7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b940904d3_0_8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9b940904d3_0_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b940904d3_0_659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g39b940904d3_0_659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2" name="Google Shape;12;g39b940904d3_0_65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g39b940904d3_0_65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g39b940904d3_0_659"/>
          <p:cNvSpPr txBox="1"/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5" name="Google Shape;15;g39b940904d3_0_659"/>
          <p:cNvSpPr txBox="1"/>
          <p:nvPr>
            <p:ph idx="1" type="subTitle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g39b940904d3_0_659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g39b940904d3_0_667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9" name="Google Shape;19;g39b940904d3_0_66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g39b940904d3_0_66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g39b940904d3_0_667"/>
          <p:cNvSpPr txBox="1"/>
          <p:nvPr>
            <p:ph type="title"/>
          </p:nvPr>
        </p:nvSpPr>
        <p:spPr>
          <a:xfrm>
            <a:off x="972600" y="1763267"/>
            <a:ext cx="10251300" cy="20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g39b940904d3_0_667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9b940904d3_0_673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g39b940904d3_0_673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26" name="Google Shape;26;g39b940904d3_0_67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g39b940904d3_0_67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g39b940904d3_0_673"/>
          <p:cNvSpPr txBox="1"/>
          <p:nvPr>
            <p:ph type="title"/>
          </p:nvPr>
        </p:nvSpPr>
        <p:spPr>
          <a:xfrm>
            <a:off x="972600" y="1758200"/>
            <a:ext cx="102516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29" name="Google Shape;29;g39b940904d3_0_673"/>
          <p:cNvSpPr txBox="1"/>
          <p:nvPr>
            <p:ph idx="1" type="body"/>
          </p:nvPr>
        </p:nvSpPr>
        <p:spPr>
          <a:xfrm>
            <a:off x="972600" y="2771833"/>
            <a:ext cx="102516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0" name="Google Shape;30;g39b940904d3_0_673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9b940904d3_0_681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g39b940904d3_0_681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4" name="Google Shape;34;g39b940904d3_0_68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g39b940904d3_0_68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g39b940904d3_0_681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37" name="Google Shape;37;g39b940904d3_0_681"/>
          <p:cNvSpPr txBox="1"/>
          <p:nvPr>
            <p:ph idx="1" type="body"/>
          </p:nvPr>
        </p:nvSpPr>
        <p:spPr>
          <a:xfrm>
            <a:off x="972434" y="2771833"/>
            <a:ext cx="50325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8" name="Google Shape;38;g39b940904d3_0_681"/>
          <p:cNvSpPr txBox="1"/>
          <p:nvPr>
            <p:ph idx="2" type="body"/>
          </p:nvPr>
        </p:nvSpPr>
        <p:spPr>
          <a:xfrm>
            <a:off x="6191471" y="2771833"/>
            <a:ext cx="50325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9" name="Google Shape;39;g39b940904d3_0_68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9b940904d3_0_690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g39b940904d3_0_690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43" name="Google Shape;43;g39b940904d3_0_69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g39b940904d3_0_69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g39b940904d3_0_690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46" name="Google Shape;46;g39b940904d3_0_690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9b940904d3_0_697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g39b940904d3_0_697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50" name="Google Shape;50;g39b940904d3_0_69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g39b940904d3_0_69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g39b940904d3_0_697"/>
          <p:cNvSpPr txBox="1"/>
          <p:nvPr>
            <p:ph type="title"/>
          </p:nvPr>
        </p:nvSpPr>
        <p:spPr>
          <a:xfrm>
            <a:off x="973333" y="1758200"/>
            <a:ext cx="4401300" cy="184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53" name="Google Shape;53;g39b940904d3_0_697"/>
          <p:cNvSpPr txBox="1"/>
          <p:nvPr>
            <p:ph idx="1" type="body"/>
          </p:nvPr>
        </p:nvSpPr>
        <p:spPr>
          <a:xfrm>
            <a:off x="961633" y="3708967"/>
            <a:ext cx="4401300" cy="2130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4" name="Google Shape;54;g39b940904d3_0_697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g39b940904d3_0_705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57" name="Google Shape;57;g39b940904d3_0_70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g39b940904d3_0_70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g39b940904d3_0_705"/>
          <p:cNvSpPr txBox="1"/>
          <p:nvPr>
            <p:ph type="title"/>
          </p:nvPr>
        </p:nvSpPr>
        <p:spPr>
          <a:xfrm>
            <a:off x="972600" y="1152400"/>
            <a:ext cx="9361500" cy="3980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g39b940904d3_0_70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b940904d3_0_71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g39b940904d3_0_711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64" name="Google Shape;64;g39b940904d3_0_7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g39b940904d3_0_7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g39b940904d3_0_711"/>
          <p:cNvSpPr txBox="1"/>
          <p:nvPr>
            <p:ph type="title"/>
          </p:nvPr>
        </p:nvSpPr>
        <p:spPr>
          <a:xfrm>
            <a:off x="973333" y="1758200"/>
            <a:ext cx="4401300" cy="224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67" name="Google Shape;67;g39b940904d3_0_711"/>
          <p:cNvSpPr txBox="1"/>
          <p:nvPr>
            <p:ph idx="1" type="subTitle"/>
          </p:nvPr>
        </p:nvSpPr>
        <p:spPr>
          <a:xfrm>
            <a:off x="966600" y="4215367"/>
            <a:ext cx="4401300" cy="1011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8" name="Google Shape;68;g39b940904d3_0_711"/>
          <p:cNvSpPr txBox="1"/>
          <p:nvPr>
            <p:ph idx="2" type="body"/>
          </p:nvPr>
        </p:nvSpPr>
        <p:spPr>
          <a:xfrm>
            <a:off x="6898967" y="1803500"/>
            <a:ext cx="4499100" cy="4034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9" name="Google Shape;69;g39b940904d3_0_71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b940904d3_0_720"/>
          <p:cNvSpPr txBox="1"/>
          <p:nvPr>
            <p:ph idx="1" type="body"/>
          </p:nvPr>
        </p:nvSpPr>
        <p:spPr>
          <a:xfrm>
            <a:off x="966600" y="5830068"/>
            <a:ext cx="10263300" cy="614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72" name="Google Shape;72;g39b940904d3_0_720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g39b940904d3_0_723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75" name="Google Shape;75;g39b940904d3_0_7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g39b940904d3_0_7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g39b940904d3_0_723"/>
          <p:cNvSpPr txBox="1"/>
          <p:nvPr>
            <p:ph hasCustomPrompt="1" type="title"/>
          </p:nvPr>
        </p:nvSpPr>
        <p:spPr>
          <a:xfrm>
            <a:off x="972600" y="978600"/>
            <a:ext cx="10251300" cy="1659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g39b940904d3_0_723"/>
          <p:cNvSpPr txBox="1"/>
          <p:nvPr>
            <p:ph idx="1" type="body"/>
          </p:nvPr>
        </p:nvSpPr>
        <p:spPr>
          <a:xfrm>
            <a:off x="972600" y="3030517"/>
            <a:ext cx="10251300" cy="210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g39b940904d3_0_723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b940904d3_0_730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b940904d3_0_65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g39b940904d3_0_655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39b940904d3_0_65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/>
        </p:nvSpPr>
        <p:spPr>
          <a:xfrm>
            <a:off x="8723546" y="5286553"/>
            <a:ext cx="2870400" cy="708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latin typeface="Lato"/>
                <a:ea typeface="Lato"/>
                <a:cs typeface="Lato"/>
                <a:sym typeface="Lato"/>
              </a:rPr>
              <a:t>Facilitator: Adebimpe Favour</a:t>
            </a:r>
            <a:endParaRPr sz="2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-7" y="641169"/>
            <a:ext cx="7602000" cy="3693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/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>
            <a:off x="1464925" y="2172125"/>
            <a:ext cx="9004025" cy="2946475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9" name="Google Shape;89;p1"/>
          <p:cNvSpPr txBox="1"/>
          <p:nvPr>
            <p:ph type="ctrTitle"/>
          </p:nvPr>
        </p:nvSpPr>
        <p:spPr>
          <a:xfrm>
            <a:off x="906875" y="1996542"/>
            <a:ext cx="10250700" cy="2219700"/>
          </a:xfrm>
          <a:prstGeom prst="rect">
            <a:avLst/>
          </a:prstGeom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-US" sz="6469">
                <a:latin typeface="Montserrat ExtraBold"/>
                <a:ea typeface="Montserrat ExtraBold"/>
                <a:cs typeface="Montserrat ExtraBold"/>
                <a:sym typeface="Montserrat ExtraBold"/>
              </a:rPr>
              <a:t>FRONTEND</a:t>
            </a:r>
            <a:endParaRPr b="0" sz="6469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-US" sz="6469">
                <a:latin typeface="Montserrat ExtraBold"/>
                <a:ea typeface="Montserrat ExtraBold"/>
                <a:cs typeface="Montserrat ExtraBold"/>
                <a:sym typeface="Montserrat ExtraBold"/>
              </a:rPr>
              <a:t>DEVELOPMENT</a:t>
            </a:r>
            <a:endParaRPr b="0" sz="6469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-US" sz="6469">
                <a:latin typeface="Montserrat ExtraBold"/>
                <a:ea typeface="Montserrat ExtraBold"/>
                <a:cs typeface="Montserrat ExtraBold"/>
                <a:sym typeface="Montserrat ExtraBold"/>
              </a:rPr>
              <a:t>BOOTCAMP</a:t>
            </a:r>
            <a:endParaRPr b="0" sz="6469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1305937" y="5519848"/>
            <a:ext cx="10250700" cy="7215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121900" lIns="121900" spcFirstLastPara="1" rIns="121900" wrap="square" tIns="121900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.</a:t>
            </a:r>
            <a:endParaRPr/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b940904d3_0_760"/>
          <p:cNvSpPr/>
          <p:nvPr/>
        </p:nvSpPr>
        <p:spPr>
          <a:xfrm>
            <a:off x="0" y="4477"/>
            <a:ext cx="10067400" cy="4887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/>
          </a:p>
        </p:txBody>
      </p:sp>
      <p:pic>
        <p:nvPicPr>
          <p:cNvPr id="97" name="Google Shape;97;g39b940904d3_0_7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39b940904d3_0_760"/>
          <p:cNvSpPr txBox="1"/>
          <p:nvPr/>
        </p:nvSpPr>
        <p:spPr>
          <a:xfrm>
            <a:off x="1219200" y="1178550"/>
            <a:ext cx="9804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" name="Google Shape;99;g39b940904d3_0_760"/>
          <p:cNvSpPr/>
          <p:nvPr/>
        </p:nvSpPr>
        <p:spPr>
          <a:xfrm>
            <a:off x="508050" y="1323325"/>
            <a:ext cx="11175900" cy="49584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u="sng">
                <a:latin typeface="Raleway ExtraBold"/>
                <a:ea typeface="Raleway ExtraBold"/>
                <a:cs typeface="Raleway ExtraBold"/>
                <a:sym typeface="Raleway ExtraBold"/>
              </a:rPr>
              <a:t>HTML5 Forms &amp; Table: understanding inputs, attributes and table </a:t>
            </a:r>
            <a:r>
              <a:rPr lang="en-US" sz="2200" u="sng">
                <a:latin typeface="Raleway ExtraBold"/>
                <a:ea typeface="Raleway ExtraBold"/>
                <a:cs typeface="Raleway ExtraBold"/>
                <a:sym typeface="Raleway ExtraBold"/>
              </a:rPr>
              <a:t>structure</a:t>
            </a:r>
            <a:endParaRPr sz="2200" u="sng"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u="sng">
                <a:latin typeface="Raleway ExtraBold"/>
                <a:ea typeface="Raleway ExtraBold"/>
                <a:cs typeface="Raleway ExtraBold"/>
                <a:sym typeface="Raleway ExtraBold"/>
              </a:rPr>
              <a:t>Form Elements</a:t>
            </a:r>
            <a:endParaRPr sz="2200" u="sng"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"/>
                <a:ea typeface="Nunito Sans"/>
                <a:cs typeface="Nunito Sans"/>
                <a:sym typeface="Nunito Sans"/>
              </a:rPr>
              <a:t>Tags and usage:</a:t>
            </a:r>
            <a:endParaRPr sz="1800">
              <a:latin typeface="Nunito Sans"/>
              <a:ea typeface="Nunito Sans"/>
              <a:cs typeface="Nunito Sans"/>
              <a:sym typeface="Nunito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 Sans"/>
              <a:buChar char="●"/>
            </a:pPr>
            <a:r>
              <a:rPr lang="en-US" sz="1800">
                <a:latin typeface="Nunito Sans"/>
                <a:ea typeface="Nunito Sans"/>
                <a:cs typeface="Nunito Sans"/>
                <a:sym typeface="Nunito Sans"/>
              </a:rPr>
              <a:t>&lt;form&gt; – container for all form controls.</a:t>
            </a:r>
            <a:endParaRPr sz="1800"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unito Sans"/>
              <a:ea typeface="Nunito Sans"/>
              <a:cs typeface="Nunito Sans"/>
              <a:sym typeface="Nunito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 Sans"/>
              <a:buChar char="●"/>
            </a:pPr>
            <a:r>
              <a:rPr lang="en-US" sz="1800">
                <a:latin typeface="Nunito Sans"/>
                <a:ea typeface="Nunito Sans"/>
                <a:cs typeface="Nunito Sans"/>
                <a:sym typeface="Nunito Sans"/>
              </a:rPr>
              <a:t>&lt;input&gt; – single line input (text, email, etc.)</a:t>
            </a:r>
            <a:endParaRPr sz="1800"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unito Sans"/>
              <a:ea typeface="Nunito Sans"/>
              <a:cs typeface="Nunito Sans"/>
              <a:sym typeface="Nunito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 Sans"/>
              <a:buChar char="●"/>
            </a:pPr>
            <a:r>
              <a:rPr lang="en-US" sz="1800">
                <a:latin typeface="Nunito Sans"/>
                <a:ea typeface="Nunito Sans"/>
                <a:cs typeface="Nunito Sans"/>
                <a:sym typeface="Nunito Sans"/>
              </a:rPr>
              <a:t>&lt;textarea&gt; – multi-line text input.</a:t>
            </a:r>
            <a:endParaRPr sz="1800"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unito Sans"/>
              <a:ea typeface="Nunito Sans"/>
              <a:cs typeface="Nunito Sans"/>
              <a:sym typeface="Nunito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 Sans"/>
              <a:buChar char="●"/>
            </a:pPr>
            <a:r>
              <a:rPr lang="en-US" sz="1800">
                <a:latin typeface="Nunito Sans"/>
                <a:ea typeface="Nunito Sans"/>
                <a:cs typeface="Nunito Sans"/>
                <a:sym typeface="Nunito Sans"/>
              </a:rPr>
              <a:t>&lt;select&gt; – dropdown list of options.</a:t>
            </a:r>
            <a:endParaRPr sz="1800"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unito Sans"/>
              <a:ea typeface="Nunito Sans"/>
              <a:cs typeface="Nunito Sans"/>
              <a:sym typeface="Nunito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 Sans"/>
              <a:buChar char="●"/>
            </a:pPr>
            <a:r>
              <a:rPr lang="en-US" sz="1800">
                <a:latin typeface="Nunito Sans"/>
                <a:ea typeface="Nunito Sans"/>
                <a:cs typeface="Nunito Sans"/>
                <a:sym typeface="Nunito Sans"/>
              </a:rPr>
              <a:t>&lt;button&gt; clickable button (submit, reset, or button)</a:t>
            </a:r>
            <a:endParaRPr sz="1800"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00" name="Google Shape;100;g39b940904d3_0_760"/>
          <p:cNvPicPr preferRelativeResize="0"/>
          <p:nvPr/>
        </p:nvPicPr>
        <p:blipFill rotWithShape="1">
          <a:blip r:embed="rId4">
            <a:alphaModFix amt="8000"/>
          </a:blip>
          <a:srcRect b="0" l="0" r="0" t="0"/>
          <a:stretch/>
        </p:blipFill>
        <p:spPr>
          <a:xfrm>
            <a:off x="2360675" y="2310325"/>
            <a:ext cx="7343175" cy="2147850"/>
          </a:xfrm>
          <a:prstGeom prst="rect">
            <a:avLst/>
          </a:prstGeom>
          <a:noFill/>
          <a:ln>
            <a:noFill/>
          </a:ln>
          <a:effectLst>
            <a:outerShdw sx="1000" rotWithShape="0" algn="ctr" dist="50800" sy="1000">
              <a:srgbClr val="000000"/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/>
          <p:nvPr/>
        </p:nvSpPr>
        <p:spPr>
          <a:xfrm>
            <a:off x="0" y="4477"/>
            <a:ext cx="10067365" cy="488589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/>
          </a:p>
        </p:txBody>
      </p:sp>
      <p:pic>
        <p:nvPicPr>
          <p:cNvPr id="106" name="Google Shape;10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2"/>
          <p:cNvSpPr/>
          <p:nvPr/>
        </p:nvSpPr>
        <p:spPr>
          <a:xfrm>
            <a:off x="508050" y="1259675"/>
            <a:ext cx="11175900" cy="5325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latin typeface="Raleway ExtraBold"/>
                <a:ea typeface="Raleway ExtraBold"/>
                <a:cs typeface="Raleway ExtraBold"/>
                <a:sym typeface="Raleway ExtraBold"/>
              </a:rPr>
              <a:t>Input Types</a:t>
            </a:r>
            <a:endParaRPr sz="2000" u="sng"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"/>
                <a:ea typeface="Nunito Sans"/>
                <a:cs typeface="Nunito Sans"/>
                <a:sym typeface="Nunito Sans"/>
              </a:rPr>
              <a:t>Common types and when you use them:</a:t>
            </a:r>
            <a:endParaRPr sz="1800"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>
            <a:off x="2397975" y="2480075"/>
            <a:ext cx="7296525" cy="2024750"/>
          </a:xfrm>
          <a:prstGeom prst="rect">
            <a:avLst/>
          </a:prstGeom>
          <a:noFill/>
          <a:ln>
            <a:noFill/>
          </a:ln>
          <a:effectLst>
            <a:outerShdw sx="1000" rotWithShape="0" algn="ctr" dist="50800" sy="1000">
              <a:srgbClr val="000000"/>
            </a:outerShdw>
          </a:effectLst>
        </p:spPr>
      </p:pic>
      <p:graphicFrame>
        <p:nvGraphicFramePr>
          <p:cNvPr id="109" name="Google Shape;109;p2"/>
          <p:cNvGraphicFramePr/>
          <p:nvPr/>
        </p:nvGraphicFramePr>
        <p:xfrm>
          <a:off x="1232400" y="255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{F25CF40E-077D-492B-9EE9-0AF4B1E35C13}</a:tableStyleId>
              </a:tblPr>
              <a:tblGrid>
                <a:gridCol w="5143500"/>
                <a:gridCol w="5143500"/>
              </a:tblGrid>
              <a:tr h="49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Type</a:t>
                      </a:r>
                      <a:endParaRPr b="1" sz="1600"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Purpose/Behavior</a:t>
                      </a:r>
                      <a:endParaRPr b="1" sz="1600"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text</a:t>
                      </a:r>
                      <a:endParaRPr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Plain text input</a:t>
                      </a:r>
                      <a:endParaRPr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password</a:t>
                      </a:r>
                      <a:endParaRPr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Hide input character (for password)</a:t>
                      </a:r>
                      <a:endParaRPr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email</a:t>
                      </a:r>
                      <a:endParaRPr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Validates email format</a:t>
                      </a:r>
                      <a:endParaRPr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number</a:t>
                      </a:r>
                      <a:endParaRPr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Numeric input, arrows for increment/decrement</a:t>
                      </a:r>
                      <a:endParaRPr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date</a:t>
                      </a:r>
                      <a:endParaRPr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Date picker</a:t>
                      </a:r>
                      <a:endParaRPr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checkbox</a:t>
                      </a:r>
                      <a:endParaRPr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Multiple selection</a:t>
                      </a:r>
                      <a:endParaRPr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radio</a:t>
                      </a:r>
                      <a:endParaRPr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Single selection among many</a:t>
                      </a:r>
                      <a:endParaRPr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b940904d3_0_750"/>
          <p:cNvSpPr/>
          <p:nvPr/>
        </p:nvSpPr>
        <p:spPr>
          <a:xfrm>
            <a:off x="0" y="4477"/>
            <a:ext cx="10067400" cy="4887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/>
          </a:p>
        </p:txBody>
      </p:sp>
      <p:pic>
        <p:nvPicPr>
          <p:cNvPr id="115" name="Google Shape;115;g39b940904d3_0_7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g39b940904d3_0_750"/>
          <p:cNvSpPr/>
          <p:nvPr/>
        </p:nvSpPr>
        <p:spPr>
          <a:xfrm>
            <a:off x="508050" y="1302775"/>
            <a:ext cx="11175900" cy="49380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u="sng">
                <a:latin typeface="Raleway ExtraBold"/>
                <a:ea typeface="Raleway ExtraBold"/>
                <a:cs typeface="Raleway ExtraBold"/>
                <a:sym typeface="Raleway ExtraBold"/>
              </a:rPr>
              <a:t>Form Attributes</a:t>
            </a:r>
            <a:endParaRPr sz="1900" u="sng"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Key attributes you should know: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pic>
        <p:nvPicPr>
          <p:cNvPr id="117" name="Google Shape;117;g39b940904d3_0_750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>
            <a:off x="2463275" y="2347650"/>
            <a:ext cx="7147250" cy="1996950"/>
          </a:xfrm>
          <a:prstGeom prst="rect">
            <a:avLst/>
          </a:prstGeom>
          <a:noFill/>
          <a:ln>
            <a:noFill/>
          </a:ln>
          <a:effectLst>
            <a:outerShdw sx="1000" rotWithShape="0" algn="ctr" dist="50800" sy="1000">
              <a:srgbClr val="000000"/>
            </a:outerShdw>
          </a:effectLst>
        </p:spPr>
      </p:pic>
      <p:graphicFrame>
        <p:nvGraphicFramePr>
          <p:cNvPr id="118" name="Google Shape;118;g39b940904d3_0_750"/>
          <p:cNvGraphicFramePr/>
          <p:nvPr/>
        </p:nvGraphicFramePr>
        <p:xfrm>
          <a:off x="952500" y="281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{F25CF40E-077D-492B-9EE9-0AF4B1E35C13}</a:tableStyleId>
              </a:tblPr>
              <a:tblGrid>
                <a:gridCol w="3429000"/>
                <a:gridCol w="3429000"/>
                <a:gridCol w="342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Attribute</a:t>
                      </a:r>
                      <a:endParaRPr b="1"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Purpose</a:t>
                      </a:r>
                      <a:endParaRPr b="1"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Example</a:t>
                      </a:r>
                      <a:endParaRPr b="1"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action</a:t>
                      </a:r>
                      <a:endParaRPr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URL or endpoint to submit form data to</a:t>
                      </a:r>
                      <a:endParaRPr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&lt;form action=”/signup”&gt;</a:t>
                      </a:r>
                      <a:endParaRPr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method</a:t>
                      </a:r>
                      <a:endParaRPr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HTTP method for form submission (GET or POST)</a:t>
                      </a:r>
                      <a:endParaRPr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&lt;form method=”POST”&gt;</a:t>
                      </a:r>
                      <a:endParaRPr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name</a:t>
                      </a:r>
                      <a:endParaRPr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identifier for input (sent to server)</a:t>
                      </a:r>
                      <a:endParaRPr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&lt;input name=”email”&gt;</a:t>
                      </a:r>
                      <a:endParaRPr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placeholder</a:t>
                      </a:r>
                      <a:endParaRPr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Hint text inside input before user types</a:t>
                      </a:r>
                      <a:endParaRPr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&lt;input placeholder=”Enter age”&gt;</a:t>
                      </a:r>
                      <a:endParaRPr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required</a:t>
                      </a:r>
                      <a:endParaRPr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Make field mandatory</a:t>
                      </a:r>
                      <a:endParaRPr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&lt;input required&gt;</a:t>
                      </a:r>
                      <a:endParaRPr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b940904d3_0_770"/>
          <p:cNvSpPr/>
          <p:nvPr/>
        </p:nvSpPr>
        <p:spPr>
          <a:xfrm>
            <a:off x="0" y="4477"/>
            <a:ext cx="10067400" cy="4887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/>
          </a:p>
        </p:txBody>
      </p:sp>
      <p:pic>
        <p:nvPicPr>
          <p:cNvPr id="124" name="Google Shape;124;g39b940904d3_0_7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39b940904d3_0_770"/>
          <p:cNvSpPr/>
          <p:nvPr/>
        </p:nvSpPr>
        <p:spPr>
          <a:xfrm>
            <a:off x="508050" y="1250350"/>
            <a:ext cx="11175900" cy="49380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u="sng">
                <a:latin typeface="Raleway ExtraBold"/>
                <a:ea typeface="Raleway ExtraBold"/>
                <a:cs typeface="Raleway ExtraBold"/>
                <a:sym typeface="Raleway ExtraBold"/>
              </a:rPr>
              <a:t>Table Elements</a:t>
            </a:r>
            <a:endParaRPr sz="1900" u="sng"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Core tags and layout: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 Sans SemiBold"/>
              <a:buChar char="●"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&lt;table</a:t>
            </a: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&gt;</a:t>
            </a: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 – container for the table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 Sans SemiBold"/>
              <a:buChar char="●"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&lt;tr&gt; – row in a table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 Sans SemiBold"/>
              <a:buChar char="●"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&lt;th&gt; – header cell (typically bold, centered)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 Sans SemiBold"/>
              <a:buChar char="●"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&lt;td&gt; – data cell (normal cells in rows)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pic>
        <p:nvPicPr>
          <p:cNvPr id="126" name="Google Shape;126;g39b940904d3_0_770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>
            <a:off x="2481950" y="2301063"/>
            <a:ext cx="7063275" cy="1940775"/>
          </a:xfrm>
          <a:prstGeom prst="rect">
            <a:avLst/>
          </a:prstGeom>
          <a:noFill/>
          <a:ln>
            <a:noFill/>
          </a:ln>
          <a:effectLst>
            <a:outerShdw sx="1000" rotWithShape="0" algn="ctr" dist="50800" sy="1000">
              <a:srgbClr val="000000"/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b940904d3_0_775"/>
          <p:cNvSpPr/>
          <p:nvPr/>
        </p:nvSpPr>
        <p:spPr>
          <a:xfrm>
            <a:off x="0" y="4477"/>
            <a:ext cx="10067400" cy="4887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/>
          </a:p>
        </p:txBody>
      </p:sp>
      <p:pic>
        <p:nvPicPr>
          <p:cNvPr id="132" name="Google Shape;132;g39b940904d3_0_7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9b940904d3_0_775"/>
          <p:cNvSpPr/>
          <p:nvPr/>
        </p:nvSpPr>
        <p:spPr>
          <a:xfrm>
            <a:off x="508050" y="1185025"/>
            <a:ext cx="11175900" cy="49380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u="sng">
                <a:latin typeface="Raleway ExtraBold"/>
                <a:ea typeface="Raleway ExtraBold"/>
                <a:cs typeface="Raleway ExtraBold"/>
                <a:sym typeface="Raleway ExtraBold"/>
              </a:rPr>
              <a:t>Table Attributes: colspan &amp; rowspan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HTML tables can have cells that span over multiple rows and/or columns. 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 Sans SemiBold"/>
              <a:buChar char="●"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colspan – To make a cell span over multiple columns, use the colspan attribute. The value of the colspan attribute represents the number of columns to span.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 Sans SemiBold"/>
              <a:buChar char="●"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rowspan – To make a cell span across multiple rows, use the rowspan attribute. the value of the rowspan attribute represents the number of rows to span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pic>
        <p:nvPicPr>
          <p:cNvPr id="134" name="Google Shape;134;g39b940904d3_0_775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>
            <a:off x="2593900" y="2293475"/>
            <a:ext cx="6708700" cy="1842725"/>
          </a:xfrm>
          <a:prstGeom prst="rect">
            <a:avLst/>
          </a:prstGeom>
          <a:noFill/>
          <a:ln>
            <a:noFill/>
          </a:ln>
          <a:effectLst>
            <a:outerShdw sx="1000" rotWithShape="0" algn="ctr" dist="50800" sy="1000">
              <a:srgbClr val="000000"/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b940904d3_0_765"/>
          <p:cNvSpPr/>
          <p:nvPr/>
        </p:nvSpPr>
        <p:spPr>
          <a:xfrm>
            <a:off x="0" y="4477"/>
            <a:ext cx="10067400" cy="4887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/>
          </a:p>
        </p:txBody>
      </p:sp>
      <p:pic>
        <p:nvPicPr>
          <p:cNvPr id="140" name="Google Shape;140;g39b940904d3_0_7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9b940904d3_0_765"/>
          <p:cNvSpPr/>
          <p:nvPr/>
        </p:nvSpPr>
        <p:spPr>
          <a:xfrm>
            <a:off x="470725" y="1147700"/>
            <a:ext cx="11175900" cy="5493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u="sng">
                <a:latin typeface="Raleway ExtraBold"/>
                <a:ea typeface="Raleway ExtraBold"/>
                <a:cs typeface="Raleway ExtraBold"/>
                <a:sym typeface="Raleway ExtraBold"/>
              </a:rPr>
              <a:t>Structuring Tables: thead, tbody, tfoot</a:t>
            </a:r>
            <a:endParaRPr sz="1900" u="sng"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The &lt;thead&gt; element represents the head section of the table, which contains a row (&lt;tr&gt;) of column and header cells (&lt;th&gt;), defining the header section for semantic meaning and styling. It works with the &lt;tbody&gt; and &lt;tfoot&gt; tags to structure the table and can improve a table’s readability.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The &lt;tbody&gt; element is used to group the main content rows of an HTML table. It contains the actual data rows (&lt;tr&gt; elements) of the table. Multiple elements can also be used within a single table to logically separate different sections of the table body.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The &lt;tfoot&gt; element is used to group the footer rows of an HTML table. It typically contains summary information, totals, or other concluding data related to the table’s content. The &lt;tfoot&gt; element must appear before the &lt;tbody&gt; element within the &lt;table&gt; tag in the HTML source code, even though it is rendered at the bottom of the table. This is because older browsers could render the footer before the potentially large &lt;tbody&gt; content was fully loaded.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pic>
        <p:nvPicPr>
          <p:cNvPr id="142" name="Google Shape;142;g39b940904d3_0_765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>
            <a:off x="2612575" y="2349925"/>
            <a:ext cx="6540750" cy="1740199"/>
          </a:xfrm>
          <a:prstGeom prst="rect">
            <a:avLst/>
          </a:prstGeom>
          <a:noFill/>
          <a:ln>
            <a:noFill/>
          </a:ln>
          <a:effectLst>
            <a:outerShdw sx="1000" rotWithShape="0" algn="ctr" dist="50800" sy="1000">
              <a:srgbClr val="000000"/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b940904d3_0_82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g39b940904d3_0_822"/>
          <p:cNvSpPr txBox="1"/>
          <p:nvPr/>
        </p:nvSpPr>
        <p:spPr>
          <a:xfrm>
            <a:off x="3303025" y="1660775"/>
            <a:ext cx="53745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00">
                <a:solidFill>
                  <a:schemeClr val="accent1"/>
                </a:solidFill>
                <a:latin typeface="Raleway Black"/>
                <a:ea typeface="Raleway Black"/>
                <a:cs typeface="Raleway Black"/>
                <a:sym typeface="Raleway Black"/>
              </a:rPr>
              <a:t>Thank You</a:t>
            </a:r>
            <a:endParaRPr sz="6700">
              <a:solidFill>
                <a:schemeClr val="accent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pic>
        <p:nvPicPr>
          <p:cNvPr id="149" name="Google Shape;149;g39b940904d3_0_822"/>
          <p:cNvPicPr preferRelativeResize="0"/>
          <p:nvPr/>
        </p:nvPicPr>
        <p:blipFill rotWithShape="1">
          <a:blip r:embed="rId3">
            <a:alphaModFix amt="43000"/>
          </a:blip>
          <a:srcRect b="0" l="0" r="0" t="0"/>
          <a:stretch/>
        </p:blipFill>
        <p:spPr>
          <a:xfrm>
            <a:off x="2701225" y="2606068"/>
            <a:ext cx="6186200" cy="1645870"/>
          </a:xfrm>
          <a:prstGeom prst="rect">
            <a:avLst/>
          </a:prstGeom>
          <a:noFill/>
          <a:ln>
            <a:noFill/>
          </a:ln>
          <a:effectLst>
            <a:outerShdw sx="1000" rotWithShape="0" algn="ctr" dist="50800" sy="1000">
              <a:srgbClr val="000000"/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2024-10-09T19:59:03Z</dcterms:created>
  <dc:creator>Olaniyi Eluwole</dc:creator>
</cp:coreProperties>
</file>