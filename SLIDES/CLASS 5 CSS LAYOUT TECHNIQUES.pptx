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21/08/2025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 5 : CSS LAYOUT TECHNIQUES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95" y="1122363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8"/>
            <a:ext cx="10515600" cy="4351338"/>
          </a:xfrm>
        </p:spPr>
        <p:txBody>
          <a:bodyPr/>
          <a:lstStyle/>
          <a:p>
            <a:r>
              <a:rPr lang="en-US" dirty="0"/>
              <a:t>The Box Model: The fundamental structure of every element.</a:t>
            </a:r>
          </a:p>
          <a:p>
            <a:r>
              <a:rPr lang="en-US" dirty="0"/>
              <a:t>Display Properties: How elements flow and interact with their neighbors.</a:t>
            </a:r>
          </a:p>
          <a:p>
            <a:r>
              <a:rPr lang="en-US" dirty="0"/>
              <a:t>Positioning: Precisely controlling an element’s location</a:t>
            </a:r>
          </a:p>
          <a:p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The Pillars of Layout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Every single element in HTML is treated by CSS as a rectangular box. Understanding this box is the most important concept in CSS layout.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box model consists of four layers, moving from inside out:</a:t>
            </a:r>
          </a:p>
          <a:p>
            <a:r>
              <a:rPr lang="en-US" dirty="0"/>
              <a:t>Content: The actual text, image, or other media. Its size is controlled by width and height.</a:t>
            </a:r>
          </a:p>
          <a:p>
            <a:r>
              <a:rPr lang="en-US" dirty="0"/>
              <a:t>Padding: The transparent area between the content and the border. It’s inside the element’s background. Controlled by ‘</a:t>
            </a:r>
            <a:r>
              <a:rPr lang="en-US" i="1" dirty="0"/>
              <a:t>padding’.</a:t>
            </a:r>
          </a:p>
          <a:p>
            <a:r>
              <a:rPr lang="en-US" dirty="0"/>
              <a:t>Border: A line that surrounds the padding (and content). Controlled by “</a:t>
            </a:r>
            <a:r>
              <a:rPr lang="en-US" i="1" dirty="0"/>
              <a:t>border”.</a:t>
            </a:r>
          </a:p>
          <a:p>
            <a:r>
              <a:rPr lang="en-US" dirty="0"/>
              <a:t>Margin: The transparent area outside the border. Controlled by “</a:t>
            </a:r>
            <a:r>
              <a:rPr lang="en-US" i="1" dirty="0"/>
              <a:t>margin”.</a:t>
            </a:r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What is the Box Model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C78DD7-6FB1-4909-9F52-373789EDC52D}"/>
              </a:ext>
            </a:extLst>
          </p:cNvPr>
          <p:cNvSpPr/>
          <p:nvPr/>
        </p:nvSpPr>
        <p:spPr>
          <a:xfrm>
            <a:off x="0" y="257031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The Components of the Box</a:t>
            </a:r>
          </a:p>
        </p:txBody>
      </p:sp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Every single element in HTML is treated by CSS as a rectangular box. Understanding this box is the most important concept in CSS layout.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box model consists of four layers, moving from inside out:</a:t>
            </a:r>
          </a:p>
          <a:p>
            <a:r>
              <a:rPr lang="en-US" dirty="0"/>
              <a:t>Content: The actual text, image, or other media. Its size is controlled by width and height.</a:t>
            </a:r>
          </a:p>
          <a:p>
            <a:r>
              <a:rPr lang="en-US" dirty="0"/>
              <a:t>Padding: The transparent area between the content and the border. It’s inside the element’s background. Controlled by ‘</a:t>
            </a:r>
            <a:r>
              <a:rPr lang="en-US" i="1" dirty="0"/>
              <a:t>padding’.</a:t>
            </a:r>
          </a:p>
          <a:p>
            <a:r>
              <a:rPr lang="en-US" dirty="0"/>
              <a:t>Border: A line that surrounds the padding (and content). Controlled by “</a:t>
            </a:r>
            <a:r>
              <a:rPr lang="en-US" i="1" dirty="0"/>
              <a:t>border”.</a:t>
            </a:r>
          </a:p>
          <a:p>
            <a:r>
              <a:rPr lang="en-US" dirty="0"/>
              <a:t>Margin: The transparent area outside the border. Controlled by “</a:t>
            </a:r>
            <a:r>
              <a:rPr lang="en-US" i="1" dirty="0"/>
              <a:t>margin”.</a:t>
            </a:r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What is the Box Model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C78DD7-6FB1-4909-9F52-373789EDC52D}"/>
              </a:ext>
            </a:extLst>
          </p:cNvPr>
          <p:cNvSpPr/>
          <p:nvPr/>
        </p:nvSpPr>
        <p:spPr>
          <a:xfrm>
            <a:off x="0" y="257031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The Components of the Box</a:t>
            </a:r>
          </a:p>
        </p:txBody>
      </p:sp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Content: The picture itself</a:t>
            </a:r>
          </a:p>
          <a:p>
            <a:r>
              <a:rPr lang="en-US" dirty="0"/>
              <a:t>Padding: The matting/frame inside the border.</a:t>
            </a:r>
          </a:p>
          <a:p>
            <a:r>
              <a:rPr lang="en-US" dirty="0"/>
              <a:t>Border: The physical picture frame.</a:t>
            </a:r>
          </a:p>
          <a:p>
            <a:r>
              <a:rPr lang="en-US" dirty="0"/>
              <a:t>Margin: The empty space on the wall between this picture and the next one.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Visual Analogy: A picture itself.</a:t>
            </a:r>
          </a:p>
        </p:txBody>
      </p:sp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By default (</a:t>
            </a:r>
            <a:r>
              <a:rPr lang="en-US" i="1" dirty="0"/>
              <a:t>box-sizing: content-box;), when you set a width: 200px, you are only setting the width of the content. The total space the element takes up is:</a:t>
            </a:r>
            <a:br>
              <a:rPr lang="en-US" i="1" dirty="0"/>
            </a:br>
            <a:r>
              <a:rPr lang="en-US" i="1" dirty="0"/>
              <a:t>Total width = width + padding-left + padding-right + border-left + border-right + margin-left + margin-right.</a:t>
            </a:r>
          </a:p>
          <a:p>
            <a:r>
              <a:rPr lang="en-US" dirty="0"/>
              <a:t>The Solution: (box-sizing: border-box)</a:t>
            </a:r>
            <a:br>
              <a:rPr lang="en-US" dirty="0"/>
            </a:br>
            <a:r>
              <a:rPr lang="en-US" dirty="0"/>
              <a:t>Total width: width + margin-left + margin-right.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Box Sizing</a:t>
            </a:r>
          </a:p>
        </p:txBody>
      </p:sp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The display property defines how an element behaves in the page flow and how it interacts with other elements.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The </a:t>
            </a:r>
            <a:r>
              <a:rPr lang="en-US" sz="2800" b="1" i="1" dirty="0">
                <a:solidFill>
                  <a:schemeClr val="bg1"/>
                </a:solidFill>
              </a:rPr>
              <a:t>display</a:t>
            </a:r>
            <a:r>
              <a:rPr lang="en-US" sz="2800" b="1" dirty="0">
                <a:solidFill>
                  <a:schemeClr val="bg1"/>
                </a:solidFill>
              </a:rPr>
              <a:t> property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5D75A2-01AE-44EE-A0F6-5DB9479E4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909199"/>
              </p:ext>
            </p:extLst>
          </p:nvPr>
        </p:nvGraphicFramePr>
        <p:xfrm>
          <a:off x="272867" y="2246810"/>
          <a:ext cx="11692711" cy="446711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86562">
                  <a:extLst>
                    <a:ext uri="{9D8B030D-6E8A-4147-A177-3AD203B41FA5}">
                      <a16:colId xmlns:a16="http://schemas.microsoft.com/office/drawing/2014/main" val="1802495040"/>
                    </a:ext>
                  </a:extLst>
                </a:gridCol>
                <a:gridCol w="4159793">
                  <a:extLst>
                    <a:ext uri="{9D8B030D-6E8A-4147-A177-3AD203B41FA5}">
                      <a16:colId xmlns:a16="http://schemas.microsoft.com/office/drawing/2014/main" val="3368050852"/>
                    </a:ext>
                  </a:extLst>
                </a:gridCol>
                <a:gridCol w="2685144">
                  <a:extLst>
                    <a:ext uri="{9D8B030D-6E8A-4147-A177-3AD203B41FA5}">
                      <a16:colId xmlns:a16="http://schemas.microsoft.com/office/drawing/2014/main" val="46224134"/>
                    </a:ext>
                  </a:extLst>
                </a:gridCol>
                <a:gridCol w="3161212">
                  <a:extLst>
                    <a:ext uri="{9D8B030D-6E8A-4147-A177-3AD203B41FA5}">
                      <a16:colId xmlns:a16="http://schemas.microsoft.com/office/drawing/2014/main" val="1070989914"/>
                    </a:ext>
                  </a:extLst>
                </a:gridCol>
              </a:tblGrid>
              <a:tr h="8619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Behaviour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Examples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traits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094475"/>
                  </a:ext>
                </a:extLst>
              </a:tr>
              <a:tr h="861957"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Starts on a new line and stretches to fill the full width available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&lt;div&gt;, &lt;p&gt;, &lt;h1&gt; - &lt;h6&gt;, &lt;section&gt;, etc.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can set width and height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634527"/>
                  </a:ext>
                </a:extLst>
              </a:tr>
              <a:tr h="910651">
                <a:tc>
                  <a:txBody>
                    <a:bodyPr/>
                    <a:lstStyle/>
                    <a:p>
                      <a:r>
                        <a:rPr lang="en-US" dirty="0"/>
                        <a:t>inline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Flows within the text/content on the same line. Only takes up as much width as necessary.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&lt;span&gt;, &lt;a&gt;, &lt;strong&gt;, &lt;</a:t>
                      </a:r>
                      <a:r>
                        <a:rPr lang="en-US" dirty="0" err="1"/>
                        <a:t>img</a:t>
                      </a:r>
                      <a:r>
                        <a:rPr lang="en-US" dirty="0"/>
                        <a:t>&gt;, &lt;input &gt;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Ignores width and height. Vertical margin/padding don’t push other element away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645517"/>
                  </a:ext>
                </a:extLst>
              </a:tr>
              <a:tr h="910651">
                <a:tc>
                  <a:txBody>
                    <a:bodyPr/>
                    <a:lstStyle/>
                    <a:p>
                      <a:r>
                        <a:rPr lang="en-US" dirty="0"/>
                        <a:t>Inline-block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hybrid! Flows inline (sits on the same line), but obeys width, height, and all margin/padding.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(Often used for custom buttons or list items)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best of both worlds for horizontal layouts.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658768"/>
                  </a:ext>
                </a:extLst>
              </a:tr>
              <a:tr h="910651"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element is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completely removed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from the page flow. It is not rendered and takes up no space.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(Used for dynamically hiding content)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9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24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dirty="0"/>
              <a:t>By default, all elements have </a:t>
            </a:r>
            <a:r>
              <a:rPr lang="en-US" i="1" dirty="0" err="1"/>
              <a:t>position:static</a:t>
            </a:r>
            <a:r>
              <a:rPr lang="en-US" dirty="0"/>
              <a:t>;, meaning the exist in the normal document flow. </a:t>
            </a:r>
          </a:p>
          <a:p>
            <a:endParaRPr lang="en-US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The </a:t>
            </a:r>
            <a:r>
              <a:rPr lang="en-US" sz="2800" b="1" i="1" dirty="0">
                <a:solidFill>
                  <a:schemeClr val="bg1"/>
                </a:solidFill>
              </a:rPr>
              <a:t>position</a:t>
            </a:r>
            <a:r>
              <a:rPr lang="en-US" sz="2800" b="1" dirty="0">
                <a:solidFill>
                  <a:schemeClr val="bg1"/>
                </a:solidFill>
              </a:rPr>
              <a:t> property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FBC536-D386-47DC-9A11-8C06908FD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32701"/>
              </p:ext>
            </p:extLst>
          </p:nvPr>
        </p:nvGraphicFramePr>
        <p:xfrm>
          <a:off x="177075" y="2227836"/>
          <a:ext cx="11666584" cy="56664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7485">
                  <a:extLst>
                    <a:ext uri="{9D8B030D-6E8A-4147-A177-3AD203B41FA5}">
                      <a16:colId xmlns:a16="http://schemas.microsoft.com/office/drawing/2014/main" val="1197496548"/>
                    </a:ext>
                  </a:extLst>
                </a:gridCol>
                <a:gridCol w="2960914">
                  <a:extLst>
                    <a:ext uri="{9D8B030D-6E8A-4147-A177-3AD203B41FA5}">
                      <a16:colId xmlns:a16="http://schemas.microsoft.com/office/drawing/2014/main" val="3139555462"/>
                    </a:ext>
                  </a:extLst>
                </a:gridCol>
                <a:gridCol w="3771539">
                  <a:extLst>
                    <a:ext uri="{9D8B030D-6E8A-4147-A177-3AD203B41FA5}">
                      <a16:colId xmlns:a16="http://schemas.microsoft.com/office/drawing/2014/main" val="3270906399"/>
                    </a:ext>
                  </a:extLst>
                </a:gridCol>
                <a:gridCol w="2916646">
                  <a:extLst>
                    <a:ext uri="{9D8B030D-6E8A-4147-A177-3AD203B41FA5}">
                      <a16:colId xmlns:a16="http://schemas.microsoft.com/office/drawing/2014/main" val="423688471"/>
                    </a:ext>
                  </a:extLst>
                </a:gridCol>
              </a:tblGrid>
              <a:tr h="524985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 Point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Behavoir</a:t>
                      </a:r>
                      <a:r>
                        <a:rPr lang="en-US" dirty="0"/>
                        <a:t> in Flow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16095"/>
                  </a:ext>
                </a:extLst>
              </a:tr>
              <a:tr h="660939"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Default. Ignored by top, bottom, left, right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content.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353919"/>
                  </a:ext>
                </a:extLst>
              </a:tr>
              <a:tr h="801566">
                <a:tc>
                  <a:txBody>
                    <a:bodyPr/>
                    <a:lstStyle/>
                    <a:p>
                      <a:r>
                        <a:rPr lang="en-US" dirty="0"/>
                        <a:t>relative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Its original position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 remains in the flow, but can be offset from itself. The space it originally occupied is preserved.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Fine turning the position of an element without disrupting others.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295898"/>
                  </a:ext>
                </a:extLst>
              </a:tr>
              <a:tr h="801566">
                <a:tc>
                  <a:txBody>
                    <a:bodyPr/>
                    <a:lstStyle/>
                    <a:p>
                      <a:r>
                        <a:rPr lang="en-US" dirty="0"/>
                        <a:t>absolute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Its nearest positioned ancestor (any ancestor with position set to anything except static). If none exists, it uses the &lt;html&gt; document.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 is removed from the flow. Other elements act like it’s not there. It can be placed precisely using top, left, etc.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Overlays, tooltips, custom dropdown menus.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502210"/>
                  </a:ext>
                </a:extLst>
              </a:tr>
              <a:tr h="801566">
                <a:tc>
                  <a:txBody>
                    <a:bodyPr/>
                    <a:lstStyle/>
                    <a:p>
                      <a:r>
                        <a:rPr lang="en-US" dirty="0"/>
                        <a:t>fixed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browser viewport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 is removed from the flow. Other element act like it’s not there. It stays in the same place on the screen even when the page is scrolled.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Fixed navigation bars, “back to top” button, modal overlays.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78570"/>
                  </a:ext>
                </a:extLst>
              </a:tr>
              <a:tr h="801566">
                <a:tc>
                  <a:txBody>
                    <a:bodyPr/>
                    <a:lstStyle/>
                    <a:p>
                      <a:r>
                        <a:rPr lang="en-US" dirty="0"/>
                        <a:t>sticky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viewport, but only within its scroll container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hybrid. Element acts relative until it hits a defined scroll point, then it acts fixed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Sticky table headers, sticky nav bars that appear after scrolling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110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70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834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CLASS 5 : CSS LAYOUT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13</cp:revision>
  <dcterms:created xsi:type="dcterms:W3CDTF">2025-08-19T13:42:15Z</dcterms:created>
  <dcterms:modified xsi:type="dcterms:W3CDTF">2025-08-22T08:41:11Z</dcterms:modified>
</cp:coreProperties>
</file>