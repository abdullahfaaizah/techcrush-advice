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aleway SemiBold"/>
      <p:regular r:id="rId18"/>
      <p:bold r:id="rId19"/>
      <p:italic r:id="rId20"/>
      <p:boldItalic r:id="rId21"/>
    </p:embeddedFont>
    <p:embeddedFont>
      <p:font typeface="Raleway ExtraBold"/>
      <p:bold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Raleway Black"/>
      <p:bold r:id="rId28"/>
      <p:boldItalic r:id="rId29"/>
    </p:embeddedFont>
    <p:embeddedFont>
      <p:font typeface="Nunito Sans SemiBold"/>
      <p:regular r:id="rId30"/>
      <p:bold r:id="rId31"/>
      <p:italic r:id="rId32"/>
      <p:boldItalic r:id="rId33"/>
    </p:embeddedFont>
    <p:embeddedFont>
      <p:font typeface="Montserrat ExtraBold"/>
      <p:bold r:id="rId34"/>
      <p:boldItalic r:id="rId35"/>
    </p:embeddedFont>
    <p:embeddedFont>
      <p:font typeface="Nunito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iw5a6rn0Ft67ftmN5pb4qMY9K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RalewaySemiBold-italic.fntdata"/><Relationship Id="rId22" Type="http://schemas.openxmlformats.org/officeDocument/2006/relationships/font" Target="fonts/RalewayExtraBold-bold.fntdata"/><Relationship Id="rId21" Type="http://schemas.openxmlformats.org/officeDocument/2006/relationships/font" Target="fonts/RalewaySemiBold-boldItalic.fntdata"/><Relationship Id="rId24" Type="http://schemas.openxmlformats.org/officeDocument/2006/relationships/font" Target="fonts/Lato-regular.fntdata"/><Relationship Id="rId23" Type="http://schemas.openxmlformats.org/officeDocument/2006/relationships/font" Target="fonts/RalewayExtra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RalewayBlack-bold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Black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SansSemiBold-bold.fntdata"/><Relationship Id="rId30" Type="http://schemas.openxmlformats.org/officeDocument/2006/relationships/font" Target="fonts/NunitoSansSemiBold-regular.fntdata"/><Relationship Id="rId11" Type="http://schemas.openxmlformats.org/officeDocument/2006/relationships/slide" Target="slides/slide7.xml"/><Relationship Id="rId33" Type="http://schemas.openxmlformats.org/officeDocument/2006/relationships/font" Target="fonts/NunitoSansSemiBold-boldItalic.fntdata"/><Relationship Id="rId10" Type="http://schemas.openxmlformats.org/officeDocument/2006/relationships/slide" Target="slides/slide6.xml"/><Relationship Id="rId32" Type="http://schemas.openxmlformats.org/officeDocument/2006/relationships/font" Target="fonts/NunitoSansSemiBold-italic.fntdata"/><Relationship Id="rId13" Type="http://schemas.openxmlformats.org/officeDocument/2006/relationships/slide" Target="slides/slide9.xml"/><Relationship Id="rId35" Type="http://schemas.openxmlformats.org/officeDocument/2006/relationships/font" Target="fonts/MontserratExtraBold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ExtraBold-bold.fntdata"/><Relationship Id="rId15" Type="http://schemas.openxmlformats.org/officeDocument/2006/relationships/font" Target="fonts/Raleway-bold.fntdata"/><Relationship Id="rId37" Type="http://schemas.openxmlformats.org/officeDocument/2006/relationships/font" Target="fonts/NunitoSans-bold.fntdata"/><Relationship Id="rId14" Type="http://schemas.openxmlformats.org/officeDocument/2006/relationships/font" Target="fonts/Raleway-regular.fntdata"/><Relationship Id="rId36" Type="http://schemas.openxmlformats.org/officeDocument/2006/relationships/font" Target="fonts/NunitoSans-regular.fntdata"/><Relationship Id="rId17" Type="http://schemas.openxmlformats.org/officeDocument/2006/relationships/font" Target="fonts/Raleway-boldItalic.fntdata"/><Relationship Id="rId39" Type="http://schemas.openxmlformats.org/officeDocument/2006/relationships/font" Target="fonts/NunitoSans-boldItalic.fntdata"/><Relationship Id="rId16" Type="http://schemas.openxmlformats.org/officeDocument/2006/relationships/font" Target="fonts/Raleway-italic.fntdata"/><Relationship Id="rId38" Type="http://schemas.openxmlformats.org/officeDocument/2006/relationships/font" Target="fonts/NunitoSans-italic.fntdata"/><Relationship Id="rId19" Type="http://schemas.openxmlformats.org/officeDocument/2006/relationships/font" Target="fonts/RalewaySemiBold-bold.fntdata"/><Relationship Id="rId18" Type="http://schemas.openxmlformats.org/officeDocument/2006/relationships/font" Target="fonts/Ralew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b940904d3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9b940904d3_0_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940904d3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b940904d3_0_7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940904d3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9b940904d3_0_7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b940904d3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b940904d3_0_7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940904d3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b940904d3_0_7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b940904d3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b940904d3_0_7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b940904d3_0_8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b940904d3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b940904d3_0_65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9b940904d3_0_65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2" name="Google Shape;12;g39b940904d3_0_65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9b940904d3_0_65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9b940904d3_0_659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5" name="Google Shape;15;g39b940904d3_0_659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g39b940904d3_0_65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9b940904d3_0_66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9" name="Google Shape;19;g39b940904d3_0_66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9b940904d3_0_66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9b940904d3_0_667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9b940904d3_0_66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b940904d3_0_67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9b940904d3_0_67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6" name="Google Shape;26;g39b940904d3_0_67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9b940904d3_0_67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9b940904d3_0_673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29" name="Google Shape;29;g39b940904d3_0_673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9b940904d3_0_67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b940904d3_0_68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9b940904d3_0_68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4" name="Google Shape;34;g39b940904d3_0_68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9b940904d3_0_68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9b940904d3_0_681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7" name="Google Shape;37;g39b940904d3_0_681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8" name="Google Shape;38;g39b940904d3_0_681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39b940904d3_0_68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b940904d3_0_690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9b940904d3_0_690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3" name="Google Shape;43;g39b940904d3_0_69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9b940904d3_0_69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9b940904d3_0_690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6" name="Google Shape;46;g39b940904d3_0_69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9b940904d3_0_69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9b940904d3_0_69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0" name="Google Shape;50;g39b940904d3_0_69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9b940904d3_0_69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9b940904d3_0_69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3" name="Google Shape;53;g39b940904d3_0_69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9b940904d3_0_69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9b940904d3_0_705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57" name="Google Shape;57;g39b940904d3_0_70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9b940904d3_0_70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9b940904d3_0_705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9b940904d3_0_70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b940904d3_0_711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9b940904d3_0_711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4" name="Google Shape;64;g39b940904d3_0_7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9b940904d3_0_7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9b940904d3_0_711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7" name="Google Shape;67;g39b940904d3_0_711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9b940904d3_0_711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9" name="Google Shape;69;g39b940904d3_0_7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b940904d3_0_72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2" name="Google Shape;72;g39b940904d3_0_72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9b940904d3_0_723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5" name="Google Shape;75;g39b940904d3_0_7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9b940904d3_0_7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9b940904d3_0_723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9b940904d3_0_723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9b940904d3_0_72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b940904d3_0_73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b940904d3_0_65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9b940904d3_0_65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9b940904d3_0_65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/>
        </p:nvSpPr>
        <p:spPr>
          <a:xfrm>
            <a:off x="8723546" y="5286553"/>
            <a:ext cx="2870400" cy="70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latin typeface="Lato"/>
                <a:ea typeface="Lato"/>
                <a:cs typeface="Lato"/>
                <a:sym typeface="Lato"/>
              </a:rPr>
              <a:t>Facilitator: Adebimpe Favour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-7" y="641169"/>
            <a:ext cx="7602000" cy="3693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1464925" y="2172125"/>
            <a:ext cx="9004025" cy="29464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"/>
          <p:cNvSpPr txBox="1"/>
          <p:nvPr>
            <p:ph type="ctrTitle"/>
          </p:nvPr>
        </p:nvSpPr>
        <p:spPr>
          <a:xfrm>
            <a:off x="906875" y="1996542"/>
            <a:ext cx="10250700" cy="2219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FRONTEND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DEVELOPMENT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US" sz="6469">
                <a:latin typeface="Montserrat ExtraBold"/>
                <a:ea typeface="Montserrat ExtraBold"/>
                <a:cs typeface="Montserrat ExtraBold"/>
                <a:sym typeface="Montserrat ExtraBold"/>
              </a:rPr>
              <a:t>BOOTCAMP</a:t>
            </a:r>
            <a:endParaRPr b="0" sz="6469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05937" y="5519848"/>
            <a:ext cx="10250700" cy="721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121900" lIns="121900" spcFirstLastPara="1" rIns="121900" wrap="square" tIns="121900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</a:t>
            </a:r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b940904d3_0_76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97" name="Google Shape;97;g39b940904d3_0_7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9b940904d3_0_760"/>
          <p:cNvSpPr txBox="1"/>
          <p:nvPr/>
        </p:nvSpPr>
        <p:spPr>
          <a:xfrm>
            <a:off x="1219200" y="1178550"/>
            <a:ext cx="980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g39b940904d3_0_760"/>
          <p:cNvSpPr/>
          <p:nvPr/>
        </p:nvSpPr>
        <p:spPr>
          <a:xfrm>
            <a:off x="508050" y="782150"/>
            <a:ext cx="11175900" cy="4958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Raleway ExtraBold"/>
                <a:ea typeface="Raleway ExtraBold"/>
                <a:cs typeface="Raleway ExtraBold"/>
                <a:sym typeface="Raleway ExtraBold"/>
              </a:rPr>
              <a:t>Introduction to HTML and Its Role in Web Development</a:t>
            </a:r>
            <a:endParaRPr sz="2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HTML (HyperText Markup Language) is the standard language for creating web pages. It provides the basic structure of a webpage, which is enhanced and modified by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CSS </a:t>
            </a: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and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 Javascript. </a:t>
            </a: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Web browsers interpret HTML to render visual content for users. 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Key roles of HTML: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-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Defines the structure of web content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-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Serves as the backbone for web design and layout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"/>
              <a:buChar char="-"/>
            </a:pP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Works alongside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CSS</a:t>
            </a: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 (for styling) and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Javascript </a:t>
            </a:r>
            <a:r>
              <a:rPr lang="en-US" sz="1800">
                <a:latin typeface="Nunito Sans"/>
                <a:ea typeface="Nunito Sans"/>
                <a:cs typeface="Nunito Sans"/>
                <a:sym typeface="Nunito Sans"/>
              </a:rPr>
              <a:t>(for interactivity)</a:t>
            </a:r>
            <a:endParaRPr sz="18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00" name="Google Shape;100;g39b940904d3_0_760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>
            <a:off x="2351325" y="2310325"/>
            <a:ext cx="7343175" cy="21478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4477"/>
            <a:ext cx="10067365" cy="488589"/>
          </a:xfrm>
          <a:prstGeom prst="rect">
            <a:avLst/>
          </a:prstGeom>
          <a:solidFill>
            <a:srgbClr val="99999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2"/>
          <p:cNvSpPr/>
          <p:nvPr/>
        </p:nvSpPr>
        <p:spPr>
          <a:xfrm>
            <a:off x="508050" y="8024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latin typeface="Raleway ExtraBold"/>
                <a:ea typeface="Raleway ExtraBold"/>
                <a:cs typeface="Raleway ExtraBold"/>
                <a:sym typeface="Raleway ExtraBold"/>
              </a:rPr>
              <a:t>HTML5 Syntax: Structure, Tags, Attributes, and Elements</a:t>
            </a:r>
            <a:endParaRPr sz="20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It introduces cleaner, more consistent syntax and new semantic elements. An </a:t>
            </a:r>
            <a:r>
              <a:rPr b="1" lang="en-US" sz="1800">
                <a:latin typeface="Nunito Sans"/>
                <a:ea typeface="Nunito Sans"/>
                <a:cs typeface="Nunito Sans"/>
                <a:sym typeface="Nunito Sans"/>
              </a:rPr>
              <a:t>HTML </a:t>
            </a: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element typically consists of an opening tag, content, and a closing tag.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Structure example: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&lt;!DOCTYPE html&gt;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&lt;html&gt;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&lt;head&gt;&lt;title&gt;Page Title&lt;/title&gt;&lt;/head&gt;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&lt;body&gt;&lt;h1&gt;welcome!&lt;/h1&gt;&lt;body&gt;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&lt;/html&gt;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-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Tags: define elements (e.g., &lt;p&gt;, &lt;div&gt;, &lt;h1&gt;)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-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Attributes: provide additional info about elements (e.g., src, href, alt)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-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Elements: the complete tag structure, including content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97975" y="2480075"/>
            <a:ext cx="7296525" cy="20247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940904d3_0_75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14" name="Google Shape;114;g39b940904d3_0_7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9b940904d3_0_750"/>
          <p:cNvSpPr/>
          <p:nvPr/>
        </p:nvSpPr>
        <p:spPr>
          <a:xfrm>
            <a:off x="508050" y="8024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aleway ExtraBold"/>
                <a:ea typeface="Raleway ExtraBold"/>
                <a:cs typeface="Raleway ExtraBold"/>
                <a:sym typeface="Raleway ExtraBold"/>
              </a:rPr>
              <a:t>Semantic HTML: Importance and Usage</a:t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Semantic HTML gives meaning to web content, improving accessibility and SEO. Common Semantic Elements are: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&lt;header&gt;: top section or intro of a page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&lt;nav&gt;: navigation links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&lt;article&gt;: independent, self-contained content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&lt;section&gt;: thematic grouping of content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&lt;footer&gt;: bottom section of a page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Benefits</a:t>
            </a:r>
            <a:r>
              <a:rPr b="1" lang="en-US" sz="1800">
                <a:latin typeface="Nunito Sans"/>
                <a:ea typeface="Nunito Sans"/>
                <a:cs typeface="Nunito Sans"/>
                <a:sym typeface="Nunito Sans"/>
              </a:rPr>
              <a:t>:</a:t>
            </a:r>
            <a:endParaRPr b="1" sz="18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Improves SEO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Enhances screen reader compatibility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Makes code easier to read and maintain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16" name="Google Shape;116;g39b940904d3_0_75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463275" y="2347650"/>
            <a:ext cx="7147250" cy="199695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b940904d3_0_770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22" name="Google Shape;122;g39b940904d3_0_7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9b940904d3_0_770"/>
          <p:cNvSpPr/>
          <p:nvPr/>
        </p:nvSpPr>
        <p:spPr>
          <a:xfrm>
            <a:off x="508050" y="802450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aleway ExtraBold"/>
                <a:ea typeface="Raleway ExtraBold"/>
                <a:cs typeface="Raleway ExtraBold"/>
                <a:sym typeface="Raleway ExtraBold"/>
              </a:rPr>
              <a:t>HTML Document Structure: &lt;!DOCTYPE&gt;, &lt;html&gt;, &lt;head&gt;, &lt;body&gt;</a:t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Every HTML document must follow a specific structure.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Structure example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&lt;!DOCTYPE html&gt;  → declares the document type (HTML5)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&lt;html&gt;           → root element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&lt;head&gt;           → metadata (title, styles, scripts)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 Sans SemiBold"/>
              <a:buChar char="●"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&lt;body&gt;           → visible page content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Key meta tags: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&lt;title&gt;: page title shown in browser tab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&lt;meta charset="UTF-8"&gt;: defines character encoding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&lt;link&gt;: connects external stylesheets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&lt;script&gt;: links JavaScript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24" name="Google Shape;124;g39b940904d3_0_770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481950" y="2301063"/>
            <a:ext cx="7063275" cy="1940775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b940904d3_0_775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30" name="Google Shape;130;g39b940904d3_0_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b940904d3_0_775"/>
          <p:cNvSpPr/>
          <p:nvPr/>
        </p:nvSpPr>
        <p:spPr>
          <a:xfrm>
            <a:off x="508050" y="8024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aleway ExtraBold"/>
                <a:ea typeface="Raleway ExtraBold"/>
                <a:cs typeface="Raleway ExtraBold"/>
                <a:sym typeface="Raleway ExtraBold"/>
              </a:rPr>
              <a:t>Text Formatting Elements</a:t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HTML provides elements to style or emphasize text meaningfully. Common elements are: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&lt;p&gt;: Paragraph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&lt;h1&gt;–&lt;h6&gt;: Headings (h1 is most important)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&lt;strong&gt;: Strong importance (bold)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&lt;em&gt;: Emphasis (italic)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&lt;br&gt;: Line break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&lt;blockquote&gt;: Quoted text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&lt;code&gt;: Inline code snippet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Example: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&lt;p&gt;This is a &lt;strong&gt;bold&lt;/strong&gt; and &lt;em&gt;italic&lt;/em&gt; sentence.&lt;/p&gt;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32" name="Google Shape;132;g39b940904d3_0_77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593900" y="2293475"/>
            <a:ext cx="6708700" cy="1842725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940904d3_0_765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38" name="Google Shape;138;g39b940904d3_0_7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9b940904d3_0_765"/>
          <p:cNvSpPr/>
          <p:nvPr/>
        </p:nvSpPr>
        <p:spPr>
          <a:xfrm>
            <a:off x="508050" y="8024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aleway ExtraBold"/>
                <a:ea typeface="Raleway ExtraBold"/>
                <a:cs typeface="Raleway ExtraBold"/>
                <a:sym typeface="Raleway ExtraBold"/>
              </a:rPr>
              <a:t>Links and Images: &lt;a&gt; and &lt;img&gt;</a:t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&lt;a&gt; tag (Anchor): Used to create hyperlinks to other pages or resources.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Example: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&lt;a href="https://www.google.com"&gt;Visit Google&lt;/a&gt;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&lt;img&gt; tag (Image): Used to embed images in a page.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Example: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&lt;img src="image.jpg" alt="Description"&gt;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Attributes: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href: hyperlink reference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src: image source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alt: text displayed if image fails to load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- target: specifies where to open the link (_blank = new tab)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40" name="Google Shape;140;g39b940904d3_0_76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612575" y="2349925"/>
            <a:ext cx="6540750" cy="1740199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b940904d3_0_755"/>
          <p:cNvSpPr/>
          <p:nvPr/>
        </p:nvSpPr>
        <p:spPr>
          <a:xfrm>
            <a:off x="0" y="4477"/>
            <a:ext cx="10067400" cy="488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Disclaimer: This training material belongs to techcrush and shouldn’t be shared</a:t>
            </a:r>
            <a:endParaRPr/>
          </a:p>
        </p:txBody>
      </p:sp>
      <p:pic>
        <p:nvPicPr>
          <p:cNvPr id="146" name="Google Shape;146;g39b940904d3_0_7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443" y="0"/>
            <a:ext cx="1886945" cy="50203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9b940904d3_0_755"/>
          <p:cNvSpPr/>
          <p:nvPr/>
        </p:nvSpPr>
        <p:spPr>
          <a:xfrm>
            <a:off x="508050" y="802475"/>
            <a:ext cx="11175900" cy="49380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Raleway ExtraBold"/>
                <a:ea typeface="Raleway ExtraBold"/>
                <a:cs typeface="Raleway ExtraBold"/>
                <a:sym typeface="Raleway ExtraBold"/>
              </a:rPr>
              <a:t>Lists: &lt;ul&gt;, &lt;ol&gt;, &lt;li&gt;</a:t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HTML supports two main types of lists. 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a.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Unordered List (&lt;ul&gt;):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Items appear with bullet points.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Example: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&lt;ul&gt;&lt;li&gt;HTML&lt;/li&gt;&lt;li&gt;CSS&lt;/li&gt;&lt;li&gt;JavaScript&lt;/li&gt;&lt;/ul&gt;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b. </a:t>
            </a:r>
            <a:r>
              <a:rPr b="1" lang="en-US" sz="1800" u="sng">
                <a:latin typeface="Nunito Sans"/>
                <a:ea typeface="Nunito Sans"/>
                <a:cs typeface="Nunito Sans"/>
                <a:sym typeface="Nunito Sans"/>
              </a:rPr>
              <a:t>Ordered List (&lt;ol&gt;):</a:t>
            </a:r>
            <a:endParaRPr b="1" sz="18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Items appear with numbers.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Example: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&lt;ol&gt;&lt;li&gt;Introduction&lt;/li&gt;&lt;li&gt;Body&lt;/li&gt;&lt;li&gt;Conclusion&lt;/li&gt;&lt;/ol&gt;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Nunito Sans SemiBold"/>
                <a:ea typeface="Nunito Sans SemiBold"/>
                <a:cs typeface="Nunito Sans SemiBold"/>
                <a:sym typeface="Nunito Sans SemiBold"/>
              </a:rPr>
              <a:t>Each list item is defined using &lt;li&gt; (list item)</a:t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pic>
        <p:nvPicPr>
          <p:cNvPr id="148" name="Google Shape;148;g39b940904d3_0_755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817850" y="2280430"/>
            <a:ext cx="6186200" cy="164587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b940904d3_0_82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9b940904d3_0_822"/>
          <p:cNvSpPr txBox="1"/>
          <p:nvPr/>
        </p:nvSpPr>
        <p:spPr>
          <a:xfrm>
            <a:off x="3303025" y="1660775"/>
            <a:ext cx="53745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0">
                <a:solidFill>
                  <a:schemeClr val="accent1"/>
                </a:solidFill>
                <a:latin typeface="Raleway Black"/>
                <a:ea typeface="Raleway Black"/>
                <a:cs typeface="Raleway Black"/>
                <a:sym typeface="Raleway Black"/>
              </a:rPr>
              <a:t>Thank You</a:t>
            </a:r>
            <a:endParaRPr sz="6700">
              <a:solidFill>
                <a:schemeClr val="accent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pic>
        <p:nvPicPr>
          <p:cNvPr id="155" name="Google Shape;155;g39b940904d3_0_822"/>
          <p:cNvPicPr preferRelativeResize="0"/>
          <p:nvPr/>
        </p:nvPicPr>
        <p:blipFill rotWithShape="1">
          <a:blip r:embed="rId3">
            <a:alphaModFix amt="43000"/>
          </a:blip>
          <a:srcRect b="0" l="0" r="0" t="0"/>
          <a:stretch/>
        </p:blipFill>
        <p:spPr>
          <a:xfrm>
            <a:off x="2701225" y="2606068"/>
            <a:ext cx="6186200" cy="1645870"/>
          </a:xfrm>
          <a:prstGeom prst="rect">
            <a:avLst/>
          </a:prstGeom>
          <a:noFill/>
          <a:ln>
            <a:noFill/>
          </a:ln>
          <a:effectLst>
            <a:outerShdw sx="1000" rotWithShape="0" algn="ctr" dist="50800" sy="1000">
              <a:srgbClr val="000000"/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2024-10-09T19:59:03Z</dcterms:created>
  <dc:creator>Olaniyi Eluwole</dc:creator>
</cp:coreProperties>
</file>